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7" r:id="rId3"/>
    <p:sldId id="258" r:id="rId4"/>
    <p:sldId id="259" r:id="rId5"/>
    <p:sldId id="268" r:id="rId6"/>
    <p:sldId id="269" r:id="rId7"/>
    <p:sldId id="261" r:id="rId8"/>
    <p:sldId id="262" r:id="rId9"/>
    <p:sldId id="263" r:id="rId10"/>
    <p:sldId id="264" r:id="rId11"/>
    <p:sldId id="265" r:id="rId12"/>
    <p:sldId id="270" r:id="rId13"/>
    <p:sldId id="271" r:id="rId14"/>
    <p:sldId id="272" r:id="rId15"/>
    <p:sldId id="276" r:id="rId16"/>
    <p:sldId id="275" r:id="rId17"/>
    <p:sldId id="266" r:id="rId18"/>
    <p:sldId id="274" r:id="rId1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4BD6014-9F16-47FD-845C-BDB7D79317C0}" v="61" dt="2025-05-26T01:14:18.75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87" autoAdjust="0"/>
    <p:restoredTop sz="94660"/>
  </p:normalViewPr>
  <p:slideViewPr>
    <p:cSldViewPr snapToGrid="0">
      <p:cViewPr varScale="1">
        <p:scale>
          <a:sx n="91" d="100"/>
          <a:sy n="91" d="100"/>
        </p:scale>
        <p:origin x="322" y="5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akthiraja030@outlook.com" userId="99b1dfc6936a0735" providerId="LiveId" clId="{E364B6DE-11D1-4F57-A5F1-74C5C31A7998}"/>
    <pc:docChg chg="undo custSel addSld delSld modSld sldOrd">
      <pc:chgData name="sakthiraja030@outlook.com" userId="99b1dfc6936a0735" providerId="LiveId" clId="{E364B6DE-11D1-4F57-A5F1-74C5C31A7998}" dt="2025-04-13T13:24:09.092" v="177" actId="114"/>
      <pc:docMkLst>
        <pc:docMk/>
      </pc:docMkLst>
      <pc:sldChg chg="addSp delSp modSp mod">
        <pc:chgData name="sakthiraja030@outlook.com" userId="99b1dfc6936a0735" providerId="LiveId" clId="{E364B6DE-11D1-4F57-A5F1-74C5C31A7998}" dt="2025-04-13T13:09:00.825" v="41" actId="14100"/>
        <pc:sldMkLst>
          <pc:docMk/>
          <pc:sldMk cId="3138334035" sldId="262"/>
        </pc:sldMkLst>
        <pc:spChg chg="mod">
          <ac:chgData name="sakthiraja030@outlook.com" userId="99b1dfc6936a0735" providerId="LiveId" clId="{E364B6DE-11D1-4F57-A5F1-74C5C31A7998}" dt="2025-04-02T12:21:03.794" v="15" actId="255"/>
          <ac:spMkLst>
            <pc:docMk/>
            <pc:sldMk cId="3138334035" sldId="262"/>
            <ac:spMk id="2" creationId="{D5A9665C-FFC4-4B26-F3D2-5F74A79A8871}"/>
          </ac:spMkLst>
        </pc:spChg>
      </pc:sldChg>
      <pc:sldChg chg="addSp delSp modSp mod">
        <pc:chgData name="sakthiraja030@outlook.com" userId="99b1dfc6936a0735" providerId="LiveId" clId="{E364B6DE-11D1-4F57-A5F1-74C5C31A7998}" dt="2025-04-13T13:17:52.118" v="104" actId="20577"/>
        <pc:sldMkLst>
          <pc:docMk/>
          <pc:sldMk cId="2068011157" sldId="263"/>
        </pc:sldMkLst>
        <pc:spChg chg="mod">
          <ac:chgData name="sakthiraja030@outlook.com" userId="99b1dfc6936a0735" providerId="LiveId" clId="{E364B6DE-11D1-4F57-A5F1-74C5C31A7998}" dt="2025-04-02T12:21:51.276" v="37" actId="20577"/>
          <ac:spMkLst>
            <pc:docMk/>
            <pc:sldMk cId="2068011157" sldId="263"/>
            <ac:spMk id="2" creationId="{236472CF-7CCD-2613-B0A6-8E9196AD554F}"/>
          </ac:spMkLst>
        </pc:spChg>
        <pc:spChg chg="add del mod">
          <ac:chgData name="sakthiraja030@outlook.com" userId="99b1dfc6936a0735" providerId="LiveId" clId="{E364B6DE-11D1-4F57-A5F1-74C5C31A7998}" dt="2025-04-13T13:17:52.118" v="104" actId="20577"/>
          <ac:spMkLst>
            <pc:docMk/>
            <pc:sldMk cId="2068011157" sldId="263"/>
            <ac:spMk id="3" creationId="{DD58B192-D001-C0A1-9C8A-5B8C0B469E9F}"/>
          </ac:spMkLst>
        </pc:spChg>
      </pc:sldChg>
      <pc:sldChg chg="new del">
        <pc:chgData name="sakthiraja030@outlook.com" userId="99b1dfc6936a0735" providerId="LiveId" clId="{E364B6DE-11D1-4F57-A5F1-74C5C31A7998}" dt="2025-04-13T13:18:20.652" v="106" actId="47"/>
        <pc:sldMkLst>
          <pc:docMk/>
          <pc:sldMk cId="113006090" sldId="264"/>
        </pc:sldMkLst>
      </pc:sldChg>
      <pc:sldChg chg="addSp modSp new mod ord">
        <pc:chgData name="sakthiraja030@outlook.com" userId="99b1dfc6936a0735" providerId="LiveId" clId="{E364B6DE-11D1-4F57-A5F1-74C5C31A7998}" dt="2025-04-13T13:24:09.092" v="177" actId="114"/>
        <pc:sldMkLst>
          <pc:docMk/>
          <pc:sldMk cId="590384946" sldId="264"/>
        </pc:sldMkLst>
        <pc:spChg chg="add mod">
          <ac:chgData name="sakthiraja030@outlook.com" userId="99b1dfc6936a0735" providerId="LiveId" clId="{E364B6DE-11D1-4F57-A5F1-74C5C31A7998}" dt="2025-04-13T13:24:09.092" v="177" actId="114"/>
          <ac:spMkLst>
            <pc:docMk/>
            <pc:sldMk cId="590384946" sldId="264"/>
            <ac:spMk id="11" creationId="{72F29947-82EE-FFD8-48DB-411C21A31511}"/>
          </ac:spMkLst>
        </pc:spChg>
      </pc:sldChg>
    </pc:docChg>
  </pc:docChgLst>
  <pc:docChgLst>
    <pc:chgData name="sakthiraja030@outlook.com" userId="99b1dfc6936a0735" providerId="LiveId" clId="{04BD6014-9F16-47FD-845C-BDB7D79317C0}"/>
    <pc:docChg chg="undo redo custSel addSld delSld modSld">
      <pc:chgData name="sakthiraja030@outlook.com" userId="99b1dfc6936a0735" providerId="LiveId" clId="{04BD6014-9F16-47FD-845C-BDB7D79317C0}" dt="2025-05-26T06:04:58.637" v="1313" actId="1076"/>
      <pc:docMkLst>
        <pc:docMk/>
      </pc:docMkLst>
      <pc:sldChg chg="modSp mod">
        <pc:chgData name="sakthiraja030@outlook.com" userId="99b1dfc6936a0735" providerId="LiveId" clId="{04BD6014-9F16-47FD-845C-BDB7D79317C0}" dt="2025-05-26T06:03:41.830" v="1292" actId="20577"/>
        <pc:sldMkLst>
          <pc:docMk/>
          <pc:sldMk cId="2429077840" sldId="256"/>
        </pc:sldMkLst>
        <pc:spChg chg="mod">
          <ac:chgData name="sakthiraja030@outlook.com" userId="99b1dfc6936a0735" providerId="LiveId" clId="{04BD6014-9F16-47FD-845C-BDB7D79317C0}" dt="2025-05-26T06:03:41.830" v="1292" actId="20577"/>
          <ac:spMkLst>
            <pc:docMk/>
            <pc:sldMk cId="2429077840" sldId="256"/>
            <ac:spMk id="3" creationId="{EBBA86B5-2092-93D7-1A43-47509B66E4FD}"/>
          </ac:spMkLst>
        </pc:spChg>
      </pc:sldChg>
      <pc:sldChg chg="modSp mod">
        <pc:chgData name="sakthiraja030@outlook.com" userId="99b1dfc6936a0735" providerId="LiveId" clId="{04BD6014-9F16-47FD-845C-BDB7D79317C0}" dt="2025-05-26T00:40:30.686" v="395" actId="20577"/>
        <pc:sldMkLst>
          <pc:docMk/>
          <pc:sldMk cId="91188179" sldId="258"/>
        </pc:sldMkLst>
        <pc:spChg chg="mod">
          <ac:chgData name="sakthiraja030@outlook.com" userId="99b1dfc6936a0735" providerId="LiveId" clId="{04BD6014-9F16-47FD-845C-BDB7D79317C0}" dt="2025-05-26T00:40:30.686" v="395" actId="20577"/>
          <ac:spMkLst>
            <pc:docMk/>
            <pc:sldMk cId="91188179" sldId="258"/>
            <ac:spMk id="4" creationId="{A5263592-F015-F661-5607-C041135EF89A}"/>
          </ac:spMkLst>
        </pc:spChg>
      </pc:sldChg>
      <pc:sldChg chg="modSp mod">
        <pc:chgData name="sakthiraja030@outlook.com" userId="99b1dfc6936a0735" providerId="LiveId" clId="{04BD6014-9F16-47FD-845C-BDB7D79317C0}" dt="2025-05-26T01:04:56.869" v="712" actId="20577"/>
        <pc:sldMkLst>
          <pc:docMk/>
          <pc:sldMk cId="1920640645" sldId="261"/>
        </pc:sldMkLst>
        <pc:spChg chg="mod">
          <ac:chgData name="sakthiraja030@outlook.com" userId="99b1dfc6936a0735" providerId="LiveId" clId="{04BD6014-9F16-47FD-845C-BDB7D79317C0}" dt="2025-05-26T01:04:56.869" v="712" actId="20577"/>
          <ac:spMkLst>
            <pc:docMk/>
            <pc:sldMk cId="1920640645" sldId="261"/>
            <ac:spMk id="4" creationId="{F2B19B27-0962-0AA2-759A-508BAC559DBC}"/>
          </ac:spMkLst>
        </pc:spChg>
      </pc:sldChg>
      <pc:sldChg chg="addSp delSp modSp mod">
        <pc:chgData name="sakthiraja030@outlook.com" userId="99b1dfc6936a0735" providerId="LiveId" clId="{04BD6014-9F16-47FD-845C-BDB7D79317C0}" dt="2025-05-26T03:56:46.194" v="1068" actId="14100"/>
        <pc:sldMkLst>
          <pc:docMk/>
          <pc:sldMk cId="3138334035" sldId="262"/>
        </pc:sldMkLst>
        <pc:spChg chg="add del mod">
          <ac:chgData name="sakthiraja030@outlook.com" userId="99b1dfc6936a0735" providerId="LiveId" clId="{04BD6014-9F16-47FD-845C-BDB7D79317C0}" dt="2025-05-26T03:55:22.806" v="1052" actId="478"/>
          <ac:spMkLst>
            <pc:docMk/>
            <pc:sldMk cId="3138334035" sldId="262"/>
            <ac:spMk id="9" creationId="{5550FC2C-89EC-09C0-8718-A9E0A6861CE0}"/>
          </ac:spMkLst>
        </pc:spChg>
        <pc:picChg chg="add del mod">
          <ac:chgData name="sakthiraja030@outlook.com" userId="99b1dfc6936a0735" providerId="LiveId" clId="{04BD6014-9F16-47FD-845C-BDB7D79317C0}" dt="2025-05-26T03:56:27.072" v="1060" actId="478"/>
          <ac:picMkLst>
            <pc:docMk/>
            <pc:sldMk cId="3138334035" sldId="262"/>
            <ac:picMk id="4" creationId="{144FB2A6-D79C-69B1-514A-F1CFDDA9B4E7}"/>
          </ac:picMkLst>
        </pc:picChg>
        <pc:picChg chg="add del mod">
          <ac:chgData name="sakthiraja030@outlook.com" userId="99b1dfc6936a0735" providerId="LiveId" clId="{04BD6014-9F16-47FD-845C-BDB7D79317C0}" dt="2025-05-26T03:55:23.766" v="1053" actId="478"/>
          <ac:picMkLst>
            <pc:docMk/>
            <pc:sldMk cId="3138334035" sldId="262"/>
            <ac:picMk id="6" creationId="{5CFB3C4E-A33E-96E7-513D-95702F19859D}"/>
          </ac:picMkLst>
        </pc:picChg>
        <pc:picChg chg="add mod">
          <ac:chgData name="sakthiraja030@outlook.com" userId="99b1dfc6936a0735" providerId="LiveId" clId="{04BD6014-9F16-47FD-845C-BDB7D79317C0}" dt="2025-05-26T03:56:46.194" v="1068" actId="14100"/>
          <ac:picMkLst>
            <pc:docMk/>
            <pc:sldMk cId="3138334035" sldId="262"/>
            <ac:picMk id="7" creationId="{E8A7B2D9-856F-BA52-456A-34BDE22C5CEE}"/>
          </ac:picMkLst>
        </pc:picChg>
      </pc:sldChg>
      <pc:sldChg chg="addSp delSp modSp mod">
        <pc:chgData name="sakthiraja030@outlook.com" userId="99b1dfc6936a0735" providerId="LiveId" clId="{04BD6014-9F16-47FD-845C-BDB7D79317C0}" dt="2025-05-26T04:33:36.933" v="1290" actId="1076"/>
        <pc:sldMkLst>
          <pc:docMk/>
          <pc:sldMk cId="2068011157" sldId="263"/>
        </pc:sldMkLst>
        <pc:spChg chg="mod">
          <ac:chgData name="sakthiraja030@outlook.com" userId="99b1dfc6936a0735" providerId="LiveId" clId="{04BD6014-9F16-47FD-845C-BDB7D79317C0}" dt="2025-05-26T04:33:32.204" v="1289" actId="20577"/>
          <ac:spMkLst>
            <pc:docMk/>
            <pc:sldMk cId="2068011157" sldId="263"/>
            <ac:spMk id="3" creationId="{DD58B192-D001-C0A1-9C8A-5B8C0B469E9F}"/>
          </ac:spMkLst>
        </pc:spChg>
        <pc:spChg chg="add mod">
          <ac:chgData name="sakthiraja030@outlook.com" userId="99b1dfc6936a0735" providerId="LiveId" clId="{04BD6014-9F16-47FD-845C-BDB7D79317C0}" dt="2025-05-26T04:33:36.933" v="1290" actId="1076"/>
          <ac:spMkLst>
            <pc:docMk/>
            <pc:sldMk cId="2068011157" sldId="263"/>
            <ac:spMk id="4" creationId="{38CDB734-6D0E-FB64-2BF8-F5A4CA57B263}"/>
          </ac:spMkLst>
        </pc:spChg>
        <pc:spChg chg="add del mod">
          <ac:chgData name="sakthiraja030@outlook.com" userId="99b1dfc6936a0735" providerId="LiveId" clId="{04BD6014-9F16-47FD-845C-BDB7D79317C0}" dt="2025-05-26T04:32:04.975" v="1270" actId="478"/>
          <ac:spMkLst>
            <pc:docMk/>
            <pc:sldMk cId="2068011157" sldId="263"/>
            <ac:spMk id="6" creationId="{FE99DDB1-1953-5C41-BE27-C8FCC2C11AD5}"/>
          </ac:spMkLst>
        </pc:spChg>
        <pc:spChg chg="add mod">
          <ac:chgData name="sakthiraja030@outlook.com" userId="99b1dfc6936a0735" providerId="LiveId" clId="{04BD6014-9F16-47FD-845C-BDB7D79317C0}" dt="2025-05-26T04:32:47.410" v="1281" actId="20577"/>
          <ac:spMkLst>
            <pc:docMk/>
            <pc:sldMk cId="2068011157" sldId="263"/>
            <ac:spMk id="7" creationId="{5611694F-8D04-1F53-DE40-1CCCDF66D89D}"/>
          </ac:spMkLst>
        </pc:spChg>
      </pc:sldChg>
      <pc:sldChg chg="delSp modSp add del mod">
        <pc:chgData name="sakthiraja030@outlook.com" userId="99b1dfc6936a0735" providerId="LiveId" clId="{04BD6014-9F16-47FD-845C-BDB7D79317C0}" dt="2025-05-26T06:04:58.637" v="1313" actId="1076"/>
        <pc:sldMkLst>
          <pc:docMk/>
          <pc:sldMk cId="590384946" sldId="264"/>
        </pc:sldMkLst>
        <pc:spChg chg="del mod">
          <ac:chgData name="sakthiraja030@outlook.com" userId="99b1dfc6936a0735" providerId="LiveId" clId="{04BD6014-9F16-47FD-845C-BDB7D79317C0}" dt="2025-05-26T04:31:44.977" v="1267" actId="478"/>
          <ac:spMkLst>
            <pc:docMk/>
            <pc:sldMk cId="590384946" sldId="264"/>
            <ac:spMk id="5" creationId="{39836828-B00D-0CF0-2AA7-D080CDC3C2CE}"/>
          </ac:spMkLst>
        </pc:spChg>
        <pc:spChg chg="del mod">
          <ac:chgData name="sakthiraja030@outlook.com" userId="99b1dfc6936a0735" providerId="LiveId" clId="{04BD6014-9F16-47FD-845C-BDB7D79317C0}" dt="2025-05-26T01:10:26.830" v="731"/>
          <ac:spMkLst>
            <pc:docMk/>
            <pc:sldMk cId="590384946" sldId="264"/>
            <ac:spMk id="7" creationId="{009DABB0-00E6-C868-B439-A84ECE8DADD5}"/>
          </ac:spMkLst>
        </pc:spChg>
        <pc:spChg chg="del mod">
          <ac:chgData name="sakthiraja030@outlook.com" userId="99b1dfc6936a0735" providerId="LiveId" clId="{04BD6014-9F16-47FD-845C-BDB7D79317C0}" dt="2025-05-26T06:04:27.901" v="1298" actId="478"/>
          <ac:spMkLst>
            <pc:docMk/>
            <pc:sldMk cId="590384946" sldId="264"/>
            <ac:spMk id="9" creationId="{C72A211D-C195-CB9D-1BE7-FFEFD0F81012}"/>
          </ac:spMkLst>
        </pc:spChg>
        <pc:spChg chg="mod">
          <ac:chgData name="sakthiraja030@outlook.com" userId="99b1dfc6936a0735" providerId="LiveId" clId="{04BD6014-9F16-47FD-845C-BDB7D79317C0}" dt="2025-05-26T06:04:58.637" v="1313" actId="1076"/>
          <ac:spMkLst>
            <pc:docMk/>
            <pc:sldMk cId="590384946" sldId="264"/>
            <ac:spMk id="11" creationId="{72F29947-82EE-FFD8-48DB-411C21A31511}"/>
          </ac:spMkLst>
        </pc:spChg>
      </pc:sldChg>
      <pc:sldChg chg="addSp delSp modSp new mod">
        <pc:chgData name="sakthiraja030@outlook.com" userId="99b1dfc6936a0735" providerId="LiveId" clId="{04BD6014-9F16-47FD-845C-BDB7D79317C0}" dt="2025-05-26T03:57:44.943" v="1075" actId="1076"/>
        <pc:sldMkLst>
          <pc:docMk/>
          <pc:sldMk cId="1896643136" sldId="265"/>
        </pc:sldMkLst>
        <pc:spChg chg="mod">
          <ac:chgData name="sakthiraja030@outlook.com" userId="99b1dfc6936a0735" providerId="LiveId" clId="{04BD6014-9F16-47FD-845C-BDB7D79317C0}" dt="2025-05-08T05:38:47.614" v="25" actId="255"/>
          <ac:spMkLst>
            <pc:docMk/>
            <pc:sldMk cId="1896643136" sldId="265"/>
            <ac:spMk id="2" creationId="{2DA4D4DA-BDEE-93FC-5FEA-76959663A88D}"/>
          </ac:spMkLst>
        </pc:spChg>
        <pc:picChg chg="add del mod">
          <ac:chgData name="sakthiraja030@outlook.com" userId="99b1dfc6936a0735" providerId="LiveId" clId="{04BD6014-9F16-47FD-845C-BDB7D79317C0}" dt="2025-05-26T03:52:50.933" v="1044" actId="478"/>
          <ac:picMkLst>
            <pc:docMk/>
            <pc:sldMk cId="1896643136" sldId="265"/>
            <ac:picMk id="4" creationId="{C05BB377-5870-D4A0-8440-8A4E1AB0BBCB}"/>
          </ac:picMkLst>
        </pc:picChg>
        <pc:picChg chg="add del mod">
          <ac:chgData name="sakthiraja030@outlook.com" userId="99b1dfc6936a0735" providerId="LiveId" clId="{04BD6014-9F16-47FD-845C-BDB7D79317C0}" dt="2025-05-26T03:57:31.349" v="1069" actId="478"/>
          <ac:picMkLst>
            <pc:docMk/>
            <pc:sldMk cId="1896643136" sldId="265"/>
            <ac:picMk id="5" creationId="{D7EF91D8-8B46-9D45-C820-22D9042E0BC8}"/>
          </ac:picMkLst>
        </pc:picChg>
        <pc:picChg chg="add mod">
          <ac:chgData name="sakthiraja030@outlook.com" userId="99b1dfc6936a0735" providerId="LiveId" clId="{04BD6014-9F16-47FD-845C-BDB7D79317C0}" dt="2025-05-26T03:57:44.943" v="1075" actId="1076"/>
          <ac:picMkLst>
            <pc:docMk/>
            <pc:sldMk cId="1896643136" sldId="265"/>
            <ac:picMk id="7" creationId="{0CA22344-C094-E4AF-FC44-B181392185C0}"/>
          </ac:picMkLst>
        </pc:picChg>
      </pc:sldChg>
      <pc:sldChg chg="new del">
        <pc:chgData name="sakthiraja030@outlook.com" userId="99b1dfc6936a0735" providerId="LiveId" clId="{04BD6014-9F16-47FD-845C-BDB7D79317C0}" dt="2025-05-08T05:37:53.899" v="7" actId="47"/>
        <pc:sldMkLst>
          <pc:docMk/>
          <pc:sldMk cId="3064051203" sldId="265"/>
        </pc:sldMkLst>
      </pc:sldChg>
      <pc:sldChg chg="addSp delSp modSp new mod">
        <pc:chgData name="sakthiraja030@outlook.com" userId="99b1dfc6936a0735" providerId="LiveId" clId="{04BD6014-9F16-47FD-845C-BDB7D79317C0}" dt="2025-05-08T05:53:00.517" v="275" actId="20577"/>
        <pc:sldMkLst>
          <pc:docMk/>
          <pc:sldMk cId="1488032760" sldId="266"/>
        </pc:sldMkLst>
        <pc:spChg chg="mod">
          <ac:chgData name="sakthiraja030@outlook.com" userId="99b1dfc6936a0735" providerId="LiveId" clId="{04BD6014-9F16-47FD-845C-BDB7D79317C0}" dt="2025-05-08T05:39:54.218" v="38" actId="2711"/>
          <ac:spMkLst>
            <pc:docMk/>
            <pc:sldMk cId="1488032760" sldId="266"/>
            <ac:spMk id="2" creationId="{6712AF0E-6D30-A80A-D50F-685E653E5184}"/>
          </ac:spMkLst>
        </pc:spChg>
        <pc:spChg chg="add mod">
          <ac:chgData name="sakthiraja030@outlook.com" userId="99b1dfc6936a0735" providerId="LiveId" clId="{04BD6014-9F16-47FD-845C-BDB7D79317C0}" dt="2025-05-08T05:51:59.759" v="165" actId="20577"/>
          <ac:spMkLst>
            <pc:docMk/>
            <pc:sldMk cId="1488032760" sldId="266"/>
            <ac:spMk id="4" creationId="{B02F6B62-C5AF-1E4B-5123-EBB937C12EA9}"/>
          </ac:spMkLst>
        </pc:spChg>
        <pc:spChg chg="add mod">
          <ac:chgData name="sakthiraja030@outlook.com" userId="99b1dfc6936a0735" providerId="LiveId" clId="{04BD6014-9F16-47FD-845C-BDB7D79317C0}" dt="2025-05-08T05:48:12.188" v="80" actId="1076"/>
          <ac:spMkLst>
            <pc:docMk/>
            <pc:sldMk cId="1488032760" sldId="266"/>
            <ac:spMk id="8" creationId="{350A1F74-4DBF-1E87-2A08-7FCCB1C42360}"/>
          </ac:spMkLst>
        </pc:spChg>
        <pc:spChg chg="add mod">
          <ac:chgData name="sakthiraja030@outlook.com" userId="99b1dfc6936a0735" providerId="LiveId" clId="{04BD6014-9F16-47FD-845C-BDB7D79317C0}" dt="2025-05-08T05:50:00.323" v="112" actId="1076"/>
          <ac:spMkLst>
            <pc:docMk/>
            <pc:sldMk cId="1488032760" sldId="266"/>
            <ac:spMk id="10" creationId="{BCBCFEA4-57CD-44BD-6421-8598127F003B}"/>
          </ac:spMkLst>
        </pc:spChg>
        <pc:spChg chg="add mod">
          <ac:chgData name="sakthiraja030@outlook.com" userId="99b1dfc6936a0735" providerId="LiveId" clId="{04BD6014-9F16-47FD-845C-BDB7D79317C0}" dt="2025-05-08T05:51:39.413" v="132" actId="1076"/>
          <ac:spMkLst>
            <pc:docMk/>
            <pc:sldMk cId="1488032760" sldId="266"/>
            <ac:spMk id="12" creationId="{8D671DCB-2F6C-25F6-64C1-F2D997194306}"/>
          </ac:spMkLst>
        </pc:spChg>
        <pc:spChg chg="add mod">
          <ac:chgData name="sakthiraja030@outlook.com" userId="99b1dfc6936a0735" providerId="LiveId" clId="{04BD6014-9F16-47FD-845C-BDB7D79317C0}" dt="2025-05-08T05:53:00.517" v="275" actId="20577"/>
          <ac:spMkLst>
            <pc:docMk/>
            <pc:sldMk cId="1488032760" sldId="266"/>
            <ac:spMk id="14" creationId="{F275DD46-871D-5EDA-0761-DC301DE57166}"/>
          </ac:spMkLst>
        </pc:spChg>
      </pc:sldChg>
      <pc:sldChg chg="new del">
        <pc:chgData name="sakthiraja030@outlook.com" userId="99b1dfc6936a0735" providerId="LiveId" clId="{04BD6014-9F16-47FD-845C-BDB7D79317C0}" dt="2025-05-26T00:41:47.830" v="398" actId="47"/>
        <pc:sldMkLst>
          <pc:docMk/>
          <pc:sldMk cId="1745135368" sldId="267"/>
        </pc:sldMkLst>
      </pc:sldChg>
      <pc:sldChg chg="addSp modSp new mod">
        <pc:chgData name="sakthiraja030@outlook.com" userId="99b1dfc6936a0735" providerId="LiveId" clId="{04BD6014-9F16-47FD-845C-BDB7D79317C0}" dt="2025-05-26T00:54:44.860" v="533" actId="2711"/>
        <pc:sldMkLst>
          <pc:docMk/>
          <pc:sldMk cId="1792092603" sldId="268"/>
        </pc:sldMkLst>
        <pc:graphicFrameChg chg="add mod modGraphic">
          <ac:chgData name="sakthiraja030@outlook.com" userId="99b1dfc6936a0735" providerId="LiveId" clId="{04BD6014-9F16-47FD-845C-BDB7D79317C0}" dt="2025-05-26T00:54:44.860" v="533" actId="2711"/>
          <ac:graphicFrameMkLst>
            <pc:docMk/>
            <pc:sldMk cId="1792092603" sldId="268"/>
            <ac:graphicFrameMk id="2" creationId="{F3342B9A-D9AC-5A59-8F52-7A47B7EE0DE6}"/>
          </ac:graphicFrameMkLst>
        </pc:graphicFrameChg>
      </pc:sldChg>
      <pc:sldChg chg="addSp modSp new mod">
        <pc:chgData name="sakthiraja030@outlook.com" userId="99b1dfc6936a0735" providerId="LiveId" clId="{04BD6014-9F16-47FD-845C-BDB7D79317C0}" dt="2025-05-26T01:04:28.880" v="655" actId="1076"/>
        <pc:sldMkLst>
          <pc:docMk/>
          <pc:sldMk cId="918891427" sldId="269"/>
        </pc:sldMkLst>
        <pc:graphicFrameChg chg="add mod modGraphic">
          <ac:chgData name="sakthiraja030@outlook.com" userId="99b1dfc6936a0735" providerId="LiveId" clId="{04BD6014-9F16-47FD-845C-BDB7D79317C0}" dt="2025-05-26T01:04:28.880" v="655" actId="1076"/>
          <ac:graphicFrameMkLst>
            <pc:docMk/>
            <pc:sldMk cId="918891427" sldId="269"/>
            <ac:graphicFrameMk id="2" creationId="{D8A4FF2F-53F5-4223-A123-C260E406A18E}"/>
          </ac:graphicFrameMkLst>
        </pc:graphicFrameChg>
      </pc:sldChg>
      <pc:sldChg chg="new del">
        <pc:chgData name="sakthiraja030@outlook.com" userId="99b1dfc6936a0735" providerId="LiveId" clId="{04BD6014-9F16-47FD-845C-BDB7D79317C0}" dt="2025-05-26T01:11:44.769" v="745" actId="47"/>
        <pc:sldMkLst>
          <pc:docMk/>
          <pc:sldMk cId="561103556" sldId="270"/>
        </pc:sldMkLst>
      </pc:sldChg>
      <pc:sldChg chg="addSp modSp new mod">
        <pc:chgData name="sakthiraja030@outlook.com" userId="99b1dfc6936a0735" providerId="LiveId" clId="{04BD6014-9F16-47FD-845C-BDB7D79317C0}" dt="2025-05-26T01:12:50.141" v="760" actId="1076"/>
        <pc:sldMkLst>
          <pc:docMk/>
          <pc:sldMk cId="1219295816" sldId="270"/>
        </pc:sldMkLst>
        <pc:spChg chg="mod">
          <ac:chgData name="sakthiraja030@outlook.com" userId="99b1dfc6936a0735" providerId="LiveId" clId="{04BD6014-9F16-47FD-845C-BDB7D79317C0}" dt="2025-05-26T01:11:59.511" v="754" actId="20577"/>
          <ac:spMkLst>
            <pc:docMk/>
            <pc:sldMk cId="1219295816" sldId="270"/>
            <ac:spMk id="2" creationId="{1D8A3604-7E4D-9A67-4925-EDCB3788279E}"/>
          </ac:spMkLst>
        </pc:spChg>
        <pc:spChg chg="add mod">
          <ac:chgData name="sakthiraja030@outlook.com" userId="99b1dfc6936a0735" providerId="LiveId" clId="{04BD6014-9F16-47FD-845C-BDB7D79317C0}" dt="2025-05-26T01:12:50.141" v="760" actId="1076"/>
          <ac:spMkLst>
            <pc:docMk/>
            <pc:sldMk cId="1219295816" sldId="270"/>
            <ac:spMk id="5" creationId="{8BF4E88A-9D1A-CA47-B007-DD89D49B65A0}"/>
          </ac:spMkLst>
        </pc:spChg>
        <pc:picChg chg="add mod">
          <ac:chgData name="sakthiraja030@outlook.com" userId="99b1dfc6936a0735" providerId="LiveId" clId="{04BD6014-9F16-47FD-845C-BDB7D79317C0}" dt="2025-05-26T01:12:29.904" v="758" actId="14100"/>
          <ac:picMkLst>
            <pc:docMk/>
            <pc:sldMk cId="1219295816" sldId="270"/>
            <ac:picMk id="3" creationId="{87E9A78A-A83E-E136-5DED-4BA065EFC802}"/>
          </ac:picMkLst>
        </pc:picChg>
      </pc:sldChg>
      <pc:sldChg chg="new del">
        <pc:chgData name="sakthiraja030@outlook.com" userId="99b1dfc6936a0735" providerId="LiveId" clId="{04BD6014-9F16-47FD-845C-BDB7D79317C0}" dt="2025-05-26T01:11:35.978" v="742" actId="47"/>
        <pc:sldMkLst>
          <pc:docMk/>
          <pc:sldMk cId="4009090793" sldId="270"/>
        </pc:sldMkLst>
      </pc:sldChg>
      <pc:sldChg chg="new del">
        <pc:chgData name="sakthiraja030@outlook.com" userId="99b1dfc6936a0735" providerId="LiveId" clId="{04BD6014-9F16-47FD-845C-BDB7D79317C0}" dt="2025-05-26T01:11:37.278" v="743" actId="47"/>
        <pc:sldMkLst>
          <pc:docMk/>
          <pc:sldMk cId="1988828539" sldId="271"/>
        </pc:sldMkLst>
      </pc:sldChg>
      <pc:sldChg chg="addSp modSp new mod">
        <pc:chgData name="sakthiraja030@outlook.com" userId="99b1dfc6936a0735" providerId="LiveId" clId="{04BD6014-9F16-47FD-845C-BDB7D79317C0}" dt="2025-05-26T01:14:03.060" v="846" actId="14100"/>
        <pc:sldMkLst>
          <pc:docMk/>
          <pc:sldMk cId="3593794483" sldId="271"/>
        </pc:sldMkLst>
        <pc:spChg chg="mod">
          <ac:chgData name="sakthiraja030@outlook.com" userId="99b1dfc6936a0735" providerId="LiveId" clId="{04BD6014-9F16-47FD-845C-BDB7D79317C0}" dt="2025-05-26T01:13:01.124" v="767" actId="20577"/>
          <ac:spMkLst>
            <pc:docMk/>
            <pc:sldMk cId="3593794483" sldId="271"/>
            <ac:spMk id="2" creationId="{B6D7834F-0B0B-0366-6D5E-50FDD4513819}"/>
          </ac:spMkLst>
        </pc:spChg>
        <pc:spChg chg="add mod">
          <ac:chgData name="sakthiraja030@outlook.com" userId="99b1dfc6936a0735" providerId="LiveId" clId="{04BD6014-9F16-47FD-845C-BDB7D79317C0}" dt="2025-05-26T01:13:49.494" v="843" actId="1076"/>
          <ac:spMkLst>
            <pc:docMk/>
            <pc:sldMk cId="3593794483" sldId="271"/>
            <ac:spMk id="5" creationId="{01216FB7-A955-70C7-95CE-D5CBDA94FA88}"/>
          </ac:spMkLst>
        </pc:spChg>
        <pc:picChg chg="add mod">
          <ac:chgData name="sakthiraja030@outlook.com" userId="99b1dfc6936a0735" providerId="LiveId" clId="{04BD6014-9F16-47FD-845C-BDB7D79317C0}" dt="2025-05-26T01:14:03.060" v="846" actId="14100"/>
          <ac:picMkLst>
            <pc:docMk/>
            <pc:sldMk cId="3593794483" sldId="271"/>
            <ac:picMk id="3" creationId="{7F3D1E0E-CB7C-3178-EC26-3F7846815638}"/>
          </ac:picMkLst>
        </pc:picChg>
      </pc:sldChg>
      <pc:sldChg chg="addSp modSp new mod">
        <pc:chgData name="sakthiraja030@outlook.com" userId="99b1dfc6936a0735" providerId="LiveId" clId="{04BD6014-9F16-47FD-845C-BDB7D79317C0}" dt="2025-05-26T01:14:45.260" v="862" actId="1076"/>
        <pc:sldMkLst>
          <pc:docMk/>
          <pc:sldMk cId="2081271503" sldId="272"/>
        </pc:sldMkLst>
        <pc:spChg chg="mod">
          <ac:chgData name="sakthiraja030@outlook.com" userId="99b1dfc6936a0735" providerId="LiveId" clId="{04BD6014-9F16-47FD-845C-BDB7D79317C0}" dt="2025-05-26T01:14:09.170" v="855" actId="20577"/>
          <ac:spMkLst>
            <pc:docMk/>
            <pc:sldMk cId="2081271503" sldId="272"/>
            <ac:spMk id="2" creationId="{674F6DA6-0383-2DA8-209E-4CF20AB0FB90}"/>
          </ac:spMkLst>
        </pc:spChg>
        <pc:spChg chg="add mod">
          <ac:chgData name="sakthiraja030@outlook.com" userId="99b1dfc6936a0735" providerId="LiveId" clId="{04BD6014-9F16-47FD-845C-BDB7D79317C0}" dt="2025-05-26T01:14:45.260" v="862" actId="1076"/>
          <ac:spMkLst>
            <pc:docMk/>
            <pc:sldMk cId="2081271503" sldId="272"/>
            <ac:spMk id="5" creationId="{0C937CF9-7466-12D9-FDE1-290B6D9B2813}"/>
          </ac:spMkLst>
        </pc:spChg>
        <pc:picChg chg="add mod">
          <ac:chgData name="sakthiraja030@outlook.com" userId="99b1dfc6936a0735" providerId="LiveId" clId="{04BD6014-9F16-47FD-845C-BDB7D79317C0}" dt="2025-05-26T01:14:26.027" v="859" actId="1076"/>
          <ac:picMkLst>
            <pc:docMk/>
            <pc:sldMk cId="2081271503" sldId="272"/>
            <ac:picMk id="3" creationId="{E25E19B7-F5AB-5E85-8CAC-1EF328B5E220}"/>
          </ac:picMkLst>
        </pc:picChg>
      </pc:sldChg>
      <pc:sldChg chg="addSp delSp modSp new del mod">
        <pc:chgData name="sakthiraja030@outlook.com" userId="99b1dfc6936a0735" providerId="LiveId" clId="{04BD6014-9F16-47FD-845C-BDB7D79317C0}" dt="2025-05-26T01:21:17.229" v="914" actId="47"/>
        <pc:sldMkLst>
          <pc:docMk/>
          <pc:sldMk cId="1624063876" sldId="273"/>
        </pc:sldMkLst>
        <pc:spChg chg="del">
          <ac:chgData name="sakthiraja030@outlook.com" userId="99b1dfc6936a0735" providerId="LiveId" clId="{04BD6014-9F16-47FD-845C-BDB7D79317C0}" dt="2025-05-26T01:16:39.258" v="864"/>
          <ac:spMkLst>
            <pc:docMk/>
            <pc:sldMk cId="1624063876" sldId="273"/>
            <ac:spMk id="2" creationId="{2A1CDF6A-B14F-6B37-C4E9-3F3F1B046CF8}"/>
          </ac:spMkLst>
        </pc:spChg>
        <pc:spChg chg="add mod">
          <ac:chgData name="sakthiraja030@outlook.com" userId="99b1dfc6936a0735" providerId="LiveId" clId="{04BD6014-9F16-47FD-845C-BDB7D79317C0}" dt="2025-05-26T01:19:57.280" v="904" actId="20577"/>
          <ac:spMkLst>
            <pc:docMk/>
            <pc:sldMk cId="1624063876" sldId="273"/>
            <ac:spMk id="3" creationId="{43C44890-22BD-5DCC-965D-CF00FE7D0163}"/>
          </ac:spMkLst>
        </pc:spChg>
        <pc:spChg chg="add del mod">
          <ac:chgData name="sakthiraja030@outlook.com" userId="99b1dfc6936a0735" providerId="LiveId" clId="{04BD6014-9F16-47FD-845C-BDB7D79317C0}" dt="2025-05-26T01:18:00.625" v="867" actId="478"/>
          <ac:spMkLst>
            <pc:docMk/>
            <pc:sldMk cId="1624063876" sldId="273"/>
            <ac:spMk id="5" creationId="{B165A418-4BF3-6D71-92E7-92637F38A3B7}"/>
          </ac:spMkLst>
        </pc:spChg>
        <pc:spChg chg="add mod">
          <ac:chgData name="sakthiraja030@outlook.com" userId="99b1dfc6936a0735" providerId="LiveId" clId="{04BD6014-9F16-47FD-845C-BDB7D79317C0}" dt="2025-05-26T01:20:05.414" v="905" actId="1076"/>
          <ac:spMkLst>
            <pc:docMk/>
            <pc:sldMk cId="1624063876" sldId="273"/>
            <ac:spMk id="7" creationId="{C953903B-ED1A-F66E-F80A-E0858E427347}"/>
          </ac:spMkLst>
        </pc:spChg>
        <pc:spChg chg="add mod">
          <ac:chgData name="sakthiraja030@outlook.com" userId="99b1dfc6936a0735" providerId="LiveId" clId="{04BD6014-9F16-47FD-845C-BDB7D79317C0}" dt="2025-05-26T01:20:43.961" v="909" actId="1076"/>
          <ac:spMkLst>
            <pc:docMk/>
            <pc:sldMk cId="1624063876" sldId="273"/>
            <ac:spMk id="9" creationId="{C1E3C031-0FDB-9B16-0509-8F66B740A73E}"/>
          </ac:spMkLst>
        </pc:spChg>
        <pc:spChg chg="add mod">
          <ac:chgData name="sakthiraja030@outlook.com" userId="99b1dfc6936a0735" providerId="LiveId" clId="{04BD6014-9F16-47FD-845C-BDB7D79317C0}" dt="2025-05-26T01:19:39.445" v="894" actId="20577"/>
          <ac:spMkLst>
            <pc:docMk/>
            <pc:sldMk cId="1624063876" sldId="273"/>
            <ac:spMk id="11" creationId="{3D7B43BA-FC91-0707-32F7-F1CBA1CD365C}"/>
          </ac:spMkLst>
        </pc:spChg>
      </pc:sldChg>
      <pc:sldChg chg="addSp modSp new mod">
        <pc:chgData name="sakthiraja030@outlook.com" userId="99b1dfc6936a0735" providerId="LiveId" clId="{04BD6014-9F16-47FD-845C-BDB7D79317C0}" dt="2025-05-26T01:23:11.888" v="1043" actId="1076"/>
        <pc:sldMkLst>
          <pc:docMk/>
          <pc:sldMk cId="2377370071" sldId="274"/>
        </pc:sldMkLst>
        <pc:spChg chg="add mod">
          <ac:chgData name="sakthiraja030@outlook.com" userId="99b1dfc6936a0735" providerId="LiveId" clId="{04BD6014-9F16-47FD-845C-BDB7D79317C0}" dt="2025-05-26T01:20:40.043" v="908" actId="1076"/>
          <ac:spMkLst>
            <pc:docMk/>
            <pc:sldMk cId="2377370071" sldId="274"/>
            <ac:spMk id="2" creationId="{D4D6B440-C609-39CB-2D8B-3AD04C43A713}"/>
          </ac:spMkLst>
        </pc:spChg>
        <pc:spChg chg="add mod">
          <ac:chgData name="sakthiraja030@outlook.com" userId="99b1dfc6936a0735" providerId="LiveId" clId="{04BD6014-9F16-47FD-845C-BDB7D79317C0}" dt="2025-05-26T01:20:54.415" v="911" actId="1076"/>
          <ac:spMkLst>
            <pc:docMk/>
            <pc:sldMk cId="2377370071" sldId="274"/>
            <ac:spMk id="3" creationId="{0830AE84-399E-328A-FF73-11A642D131B1}"/>
          </ac:spMkLst>
        </pc:spChg>
        <pc:spChg chg="add mod">
          <ac:chgData name="sakthiraja030@outlook.com" userId="99b1dfc6936a0735" providerId="LiveId" clId="{04BD6014-9F16-47FD-845C-BDB7D79317C0}" dt="2025-05-26T01:21:10.778" v="913" actId="1076"/>
          <ac:spMkLst>
            <pc:docMk/>
            <pc:sldMk cId="2377370071" sldId="274"/>
            <ac:spMk id="5" creationId="{5AF6F735-8938-572E-8D75-29B55E02B3DE}"/>
          </ac:spMkLst>
        </pc:spChg>
        <pc:spChg chg="add mod">
          <ac:chgData name="sakthiraja030@outlook.com" userId="99b1dfc6936a0735" providerId="LiveId" clId="{04BD6014-9F16-47FD-845C-BDB7D79317C0}" dt="2025-05-26T01:21:54.389" v="924" actId="1076"/>
          <ac:spMkLst>
            <pc:docMk/>
            <pc:sldMk cId="2377370071" sldId="274"/>
            <ac:spMk id="7" creationId="{485F85B9-34E8-1EFC-7446-383F73CBE4A0}"/>
          </ac:spMkLst>
        </pc:spChg>
        <pc:spChg chg="add mod">
          <ac:chgData name="sakthiraja030@outlook.com" userId="99b1dfc6936a0735" providerId="LiveId" clId="{04BD6014-9F16-47FD-845C-BDB7D79317C0}" dt="2025-05-26T01:23:11.888" v="1043" actId="1076"/>
          <ac:spMkLst>
            <pc:docMk/>
            <pc:sldMk cId="2377370071" sldId="274"/>
            <ac:spMk id="9" creationId="{BCC0628A-E590-27A9-AA51-DB76A92F8E9E}"/>
          </ac:spMkLst>
        </pc:spChg>
      </pc:sldChg>
      <pc:sldChg chg="addSp modSp new mod">
        <pc:chgData name="sakthiraja030@outlook.com" userId="99b1dfc6936a0735" providerId="LiveId" clId="{04BD6014-9F16-47FD-845C-BDB7D79317C0}" dt="2025-05-26T04:29:11.805" v="1194" actId="20577"/>
        <pc:sldMkLst>
          <pc:docMk/>
          <pc:sldMk cId="1795103670" sldId="275"/>
        </pc:sldMkLst>
        <pc:spChg chg="mod">
          <ac:chgData name="sakthiraja030@outlook.com" userId="99b1dfc6936a0735" providerId="LiveId" clId="{04BD6014-9F16-47FD-845C-BDB7D79317C0}" dt="2025-05-26T04:29:11.805" v="1194" actId="20577"/>
          <ac:spMkLst>
            <pc:docMk/>
            <pc:sldMk cId="1795103670" sldId="275"/>
            <ac:spMk id="2" creationId="{E7227598-A95A-CA6C-79BE-9D27939B48CC}"/>
          </ac:spMkLst>
        </pc:spChg>
        <pc:spChg chg="add mod">
          <ac:chgData name="sakthiraja030@outlook.com" userId="99b1dfc6936a0735" providerId="LiveId" clId="{04BD6014-9F16-47FD-845C-BDB7D79317C0}" dt="2025-05-26T04:29:05.826" v="1183" actId="14100"/>
          <ac:spMkLst>
            <pc:docMk/>
            <pc:sldMk cId="1795103670" sldId="275"/>
            <ac:spMk id="4" creationId="{3872AB4F-CBF6-F550-04A3-44842E1EF295}"/>
          </ac:spMkLst>
        </pc:spChg>
      </pc:sldChg>
      <pc:sldChg chg="new del">
        <pc:chgData name="sakthiraja030@outlook.com" userId="99b1dfc6936a0735" providerId="LiveId" clId="{04BD6014-9F16-47FD-845C-BDB7D79317C0}" dt="2025-05-26T04:27:32.181" v="1166" actId="47"/>
        <pc:sldMkLst>
          <pc:docMk/>
          <pc:sldMk cId="2002358837" sldId="275"/>
        </pc:sldMkLst>
      </pc:sldChg>
      <pc:sldChg chg="addSp modSp new mod">
        <pc:chgData name="sakthiraja030@outlook.com" userId="99b1dfc6936a0735" providerId="LiveId" clId="{04BD6014-9F16-47FD-845C-BDB7D79317C0}" dt="2025-05-26T04:30:27.855" v="1251" actId="20577"/>
        <pc:sldMkLst>
          <pc:docMk/>
          <pc:sldMk cId="942414366" sldId="276"/>
        </pc:sldMkLst>
        <pc:spChg chg="mod">
          <ac:chgData name="sakthiraja030@outlook.com" userId="99b1dfc6936a0735" providerId="LiveId" clId="{04BD6014-9F16-47FD-845C-BDB7D79317C0}" dt="2025-05-26T04:30:27.855" v="1251" actId="20577"/>
          <ac:spMkLst>
            <pc:docMk/>
            <pc:sldMk cId="942414366" sldId="276"/>
            <ac:spMk id="2" creationId="{485566DE-F547-B3C5-4911-5873B5E9E031}"/>
          </ac:spMkLst>
        </pc:spChg>
        <pc:spChg chg="add mod">
          <ac:chgData name="sakthiraja030@outlook.com" userId="99b1dfc6936a0735" providerId="LiveId" clId="{04BD6014-9F16-47FD-845C-BDB7D79317C0}" dt="2025-05-26T04:30:20.600" v="1238" actId="20577"/>
          <ac:spMkLst>
            <pc:docMk/>
            <pc:sldMk cId="942414366" sldId="276"/>
            <ac:spMk id="4" creationId="{FDCF1AE7-D314-8E3B-0D1C-287E280202F3}"/>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417779" y="802298"/>
            <a:ext cx="8637073" cy="2541431"/>
          </a:xfrm>
        </p:spPr>
        <p:txBody>
          <a:bodyPr bIns="0" anchor="b">
            <a:normAutofit/>
          </a:bodyPr>
          <a:lstStyle>
            <a:lvl1pPr algn="l">
              <a:defRPr sz="6600"/>
            </a:lvl1pPr>
          </a:lstStyle>
          <a:p>
            <a:r>
              <a:rPr lang="en-US"/>
              <a:t>Click to edit Master title style</a:t>
            </a:r>
            <a:endParaRPr lang="en-US" dirty="0"/>
          </a:p>
        </p:txBody>
      </p:sp>
      <p:sp>
        <p:nvSpPr>
          <p:cNvPr id="3" name="Subtitle 2"/>
          <p:cNvSpPr>
            <a:spLocks noGrp="1"/>
          </p:cNvSpPr>
          <p:nvPr>
            <p:ph type="subTitle" idx="1"/>
          </p:nvPr>
        </p:nvSpPr>
        <p:spPr>
          <a:xfrm>
            <a:off x="2417780" y="3531204"/>
            <a:ext cx="8637072" cy="977621"/>
          </a:xfrm>
        </p:spPr>
        <p:txBody>
          <a:bodyPr tIns="91440" bIns="91440">
            <a:normAutofit/>
          </a:bodyPr>
          <a:lstStyle>
            <a:lvl1pPr marL="0" indent="0" algn="l">
              <a:buNone/>
              <a:defRPr sz="1800" b="0" cap="all" baseline="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5/26/2025</a:t>
            </a:fld>
            <a:endParaRPr lang="en-US" dirty="0"/>
          </a:p>
        </p:txBody>
      </p:sp>
      <p:sp>
        <p:nvSpPr>
          <p:cNvPr id="5" name="Footer Placeholder 4"/>
          <p:cNvSpPr>
            <a:spLocks noGrp="1"/>
          </p:cNvSpPr>
          <p:nvPr>
            <p:ph type="ftr" sz="quarter" idx="11"/>
          </p:nvPr>
        </p:nvSpPr>
        <p:spPr>
          <a:xfrm>
            <a:off x="2416500" y="329307"/>
            <a:ext cx="4973915" cy="309201"/>
          </a:xfrm>
        </p:spPr>
        <p:txBody>
          <a:bodyPr/>
          <a:lstStyle/>
          <a:p>
            <a:endParaRPr lang="en-US" dirty="0"/>
          </a:p>
        </p:txBody>
      </p:sp>
      <p:sp>
        <p:nvSpPr>
          <p:cNvPr id="6" name="Slide Number Placeholder 5"/>
          <p:cNvSpPr>
            <a:spLocks noGrp="1"/>
          </p:cNvSpPr>
          <p:nvPr>
            <p:ph type="sldNum" sz="quarter" idx="12"/>
          </p:nvPr>
        </p:nvSpPr>
        <p:spPr>
          <a:xfrm>
            <a:off x="1437664" y="798973"/>
            <a:ext cx="811019" cy="503578"/>
          </a:xfrm>
        </p:spPr>
        <p:txBody>
          <a:bodyPr/>
          <a:lstStyle/>
          <a:p>
            <a:fld id="{6D22F896-40B5-4ADD-8801-0D06FADFA095}" type="slidenum">
              <a:rPr lang="en-US" dirty="0"/>
              <a:t>‹#›</a:t>
            </a:fld>
            <a:endParaRPr lang="en-US" dirty="0"/>
          </a:p>
        </p:txBody>
      </p:sp>
      <p:cxnSp>
        <p:nvCxnSpPr>
          <p:cNvPr id="15" name="Straight Connector 14"/>
          <p:cNvCxnSpPr/>
          <p:nvPr/>
        </p:nvCxnSpPr>
        <p:spPr>
          <a:xfrm>
            <a:off x="2417780" y="3528542"/>
            <a:ext cx="863707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5/26/2025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cxnSp>
        <p:nvCxnSpPr>
          <p:cNvPr id="33" name="Straight Connector 32"/>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454239" y="1756130"/>
            <a:ext cx="8643154" cy="1887950"/>
          </a:xfrm>
        </p:spPr>
        <p:txBody>
          <a:bodyPr anchor="b">
            <a:normAutofit/>
          </a:bodyPr>
          <a:lstStyle>
            <a:lvl1pPr algn="l">
              <a:defRPr sz="3600"/>
            </a:lvl1pPr>
          </a:lstStyle>
          <a:p>
            <a:r>
              <a:rPr lang="en-US"/>
              <a:t>Click to edit Master title style</a:t>
            </a:r>
            <a:endParaRPr lang="en-US" dirty="0"/>
          </a:p>
        </p:txBody>
      </p:sp>
      <p:sp>
        <p:nvSpPr>
          <p:cNvPr id="3" name="Text Placeholder 2"/>
          <p:cNvSpPr>
            <a:spLocks noGrp="1"/>
          </p:cNvSpPr>
          <p:nvPr>
            <p:ph type="body" idx="1"/>
          </p:nvPr>
        </p:nvSpPr>
        <p:spPr>
          <a:xfrm>
            <a:off x="1454239" y="3806195"/>
            <a:ext cx="8630446" cy="1012929"/>
          </a:xfrm>
        </p:spPr>
        <p:txBody>
          <a:bodyPr tIns="91440">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8A87A34-81AB-432B-8DAE-1953F412C126}" type="datetimeFigureOut">
              <a:rPr lang="en-US" dirty="0"/>
              <a:t>5/26/2025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cxnSp>
        <p:nvCxnSpPr>
          <p:cNvPr id="15" name="Straight Connector 14"/>
          <p:cNvCxnSpPr/>
          <p:nvPr/>
        </p:nvCxnSpPr>
        <p:spPr>
          <a:xfrm>
            <a:off x="1454239" y="3804985"/>
            <a:ext cx="8630446"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49217" y="804889"/>
            <a:ext cx="9605635" cy="1059305"/>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47331" y="2010878"/>
            <a:ext cx="4645152" cy="344859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13771" y="2017343"/>
            <a:ext cx="4645152" cy="3441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8A87A34-81AB-432B-8DAE-1953F412C126}" type="datetimeFigureOut">
              <a:rPr lang="en-US" dirty="0"/>
              <a:t>5/26/2025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cxnSp>
        <p:nvCxnSpPr>
          <p:cNvPr id="35" name="Straight Connector 3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447191" y="804163"/>
            <a:ext cx="9607661" cy="1056319"/>
          </a:xfrm>
        </p:spPr>
        <p:txBody>
          <a:bodyPr/>
          <a:lstStyle/>
          <a:p>
            <a:r>
              <a:rPr lang="en-US"/>
              <a:t>Click to edit Master title style</a:t>
            </a:r>
            <a:endParaRPr lang="en-US" dirty="0"/>
          </a:p>
        </p:txBody>
      </p:sp>
      <p:sp>
        <p:nvSpPr>
          <p:cNvPr id="3" name="Text Placeholder 2"/>
          <p:cNvSpPr>
            <a:spLocks noGrp="1"/>
          </p:cNvSpPr>
          <p:nvPr>
            <p:ph type="body" idx="1"/>
          </p:nvPr>
        </p:nvSpPr>
        <p:spPr>
          <a:xfrm>
            <a:off x="1447191" y="2019549"/>
            <a:ext cx="4645152" cy="801943"/>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447191" y="2824269"/>
            <a:ext cx="4645152" cy="26444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12362" y="2023003"/>
            <a:ext cx="4645152" cy="802237"/>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412362" y="2821491"/>
            <a:ext cx="4645152" cy="263737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8A87A34-81AB-432B-8DAE-1953F412C126}" type="datetimeFigureOut">
              <a:rPr lang="en-US" dirty="0"/>
              <a:t>5/26/2025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dirty="0"/>
              <a:t>‹#›</a:t>
            </a:fld>
            <a:endParaRPr lang="en-US" dirty="0"/>
          </a:p>
        </p:txBody>
      </p:sp>
      <p:cxnSp>
        <p:nvCxnSpPr>
          <p:cNvPr id="29" name="Straight Connector 28"/>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8A87A34-81AB-432B-8DAE-1953F412C126}" type="datetimeFigureOut">
              <a:rPr lang="en-US" dirty="0"/>
              <a:t>5/26/2025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cxnSp>
        <p:nvCxnSpPr>
          <p:cNvPr id="25" name="Straight Connector 2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8A87A34-81AB-432B-8DAE-1953F412C126}" type="datetimeFigureOut">
              <a:rPr lang="en-US" dirty="0"/>
              <a:t>5/26/2025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4671" y="798973"/>
            <a:ext cx="3273099" cy="2247117"/>
          </a:xfrm>
        </p:spPr>
        <p:txBody>
          <a:bodyPr anchor="b">
            <a:normAutofit/>
          </a:bodyPr>
          <a:lstStyle>
            <a:lvl1pPr algn="l">
              <a:defRPr sz="2400"/>
            </a:lvl1pPr>
          </a:lstStyle>
          <a:p>
            <a:r>
              <a:rPr lang="en-US"/>
              <a:t>Click to edit Master title style</a:t>
            </a:r>
            <a:endParaRPr lang="en-US" dirty="0"/>
          </a:p>
        </p:txBody>
      </p:sp>
      <p:sp>
        <p:nvSpPr>
          <p:cNvPr id="3" name="Content Placeholder 2"/>
          <p:cNvSpPr>
            <a:spLocks noGrp="1"/>
          </p:cNvSpPr>
          <p:nvPr>
            <p:ph idx="1"/>
          </p:nvPr>
        </p:nvSpPr>
        <p:spPr>
          <a:xfrm>
            <a:off x="5043714" y="798974"/>
            <a:ext cx="6012470" cy="4658826"/>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44671" y="3205491"/>
            <a:ext cx="3275013" cy="2248181"/>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5/26/2025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cxnSp>
        <p:nvCxnSpPr>
          <p:cNvPr id="17" name="Straight Connector 16"/>
          <p:cNvCxnSpPr/>
          <p:nvPr/>
        </p:nvCxnSpPr>
        <p:spPr>
          <a:xfrm>
            <a:off x="1448280" y="3205491"/>
            <a:ext cx="3269490"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8" name="Group 7"/>
          <p:cNvGrpSpPr/>
          <p:nvPr/>
        </p:nvGrpSpPr>
        <p:grpSpPr>
          <a:xfrm>
            <a:off x="7477387" y="482170"/>
            <a:ext cx="4074533" cy="5149101"/>
            <a:chOff x="7477387" y="482170"/>
            <a:chExt cx="4074533" cy="5149101"/>
          </a:xfrm>
        </p:grpSpPr>
        <p:sp>
          <p:nvSpPr>
            <p:cNvPr id="18" name="Rectangle 17"/>
            <p:cNvSpPr/>
            <p:nvPr/>
          </p:nvSpPr>
          <p:spPr bwMode="black">
            <a:xfrm>
              <a:off x="7477387" y="482170"/>
              <a:ext cx="4074533" cy="5149101"/>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sp>
        <p:sp>
          <p:nvSpPr>
            <p:cNvPr id="19" name="Rectangle 18"/>
            <p:cNvSpPr/>
            <p:nvPr/>
          </p:nvSpPr>
          <p:spPr bwMode="blackWhite">
            <a:xfrm>
              <a:off x="7790446" y="812506"/>
              <a:ext cx="3450289" cy="4466452"/>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451206" y="1129513"/>
            <a:ext cx="5532328" cy="1830584"/>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8124389" y="1122542"/>
            <a:ext cx="2791171" cy="3866327"/>
          </a:xfrm>
          <a:solidFill>
            <a:schemeClr val="bg1">
              <a:lumMod val="85000"/>
            </a:schemeClr>
          </a:solidFill>
          <a:ln w="9525" cap="sq">
            <a:noFill/>
            <a:miter lim="800000"/>
          </a:ln>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450329" y="3145992"/>
            <a:ext cx="5524404" cy="2003742"/>
          </a:xfrm>
        </p:spPr>
        <p:txBody>
          <a:bodyPr>
            <a:normAutofit/>
          </a:bodyPr>
          <a:lstStyle>
            <a:lvl1pPr marL="0" indent="0" algn="l">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1447382" y="5469856"/>
            <a:ext cx="5527351" cy="320123"/>
          </a:xfrm>
        </p:spPr>
        <p:txBody>
          <a:bodyPr/>
          <a:lstStyle>
            <a:lvl1pPr algn="l">
              <a:defRPr/>
            </a:lvl1pPr>
          </a:lstStyle>
          <a:p>
            <a:fld id="{48A87A34-81AB-432B-8DAE-1953F412C126}" type="datetimeFigureOut">
              <a:rPr lang="en-US" dirty="0"/>
              <a:pPr/>
              <a:t>5/26/2025</a:t>
            </a:fld>
            <a:endParaRPr lang="en-US" dirty="0"/>
          </a:p>
        </p:txBody>
      </p:sp>
      <p:sp>
        <p:nvSpPr>
          <p:cNvPr id="6" name="Footer Placeholder 5"/>
          <p:cNvSpPr>
            <a:spLocks noGrp="1"/>
          </p:cNvSpPr>
          <p:nvPr>
            <p:ph type="ftr" sz="quarter" idx="11"/>
          </p:nvPr>
        </p:nvSpPr>
        <p:spPr>
          <a:xfrm>
            <a:off x="1447382" y="318640"/>
            <a:ext cx="5541004" cy="320931"/>
          </a:xfrm>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cxnSp>
        <p:nvCxnSpPr>
          <p:cNvPr id="31" name="Straight Connector 30"/>
          <p:cNvCxnSpPr/>
          <p:nvPr/>
        </p:nvCxnSpPr>
        <p:spPr>
          <a:xfrm>
            <a:off x="1447382" y="3143605"/>
            <a:ext cx="5527351"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5/26/2025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cxnSp>
        <p:nvCxnSpPr>
          <p:cNvPr id="26" name="Straight Connector 25"/>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439111" y="798973"/>
            <a:ext cx="1615742" cy="4659889"/>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444672" y="798973"/>
            <a:ext cx="7828830" cy="465988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5/26/2025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cxnSp>
        <p:nvCxnSpPr>
          <p:cNvPr id="15" name="Straight Connector 14"/>
          <p:cNvCxnSpPr/>
          <p:nvPr/>
        </p:nvCxnSpPr>
        <p:spPr>
          <a:xfrm>
            <a:off x="9439111" y="798973"/>
            <a:ext cx="0" cy="4659889"/>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1">
            <a:tint val="40000"/>
          </a:schemeClr>
        </a:solidFill>
        <a:effectLst/>
      </p:bgPr>
    </p:bg>
    <p:spTree>
      <p:nvGrpSpPr>
        <p:cNvPr id="1" name=""/>
        <p:cNvGrpSpPr/>
        <p:nvPr/>
      </p:nvGrpSpPr>
      <p:grpSpPr>
        <a:xfrm>
          <a:off x="0" y="0"/>
          <a:ext cx="0" cy="0"/>
          <a:chOff x="0" y="0"/>
          <a:chExt cx="0" cy="0"/>
        </a:xfrm>
      </p:grpSpPr>
      <p:sp>
        <p:nvSpPr>
          <p:cNvPr id="8" name="Rectangle 7"/>
          <p:cNvSpPr/>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sp>
      <p:pic>
        <p:nvPicPr>
          <p:cNvPr id="7" name="Picture 6"/>
          <p:cNvPicPr>
            <a:picLocks noChangeAspect="1"/>
          </p:cNvPicPr>
          <p:nvPr/>
        </p:nvPicPr>
        <p:blipFill rotWithShape="1">
          <a:blip r:embed="rId13">
            <a:extLst>
              <a:ext uri="{28A0092B-C50C-407E-A947-70E740481C1C}">
                <a14:useLocalDpi xmlns:a14="http://schemas.microsoft.com/office/drawing/2010/main" val="0"/>
              </a:ext>
            </a:extLst>
          </a:blip>
          <a:srcRect t="1538" b="-1538"/>
          <a:stretch/>
        </p:blipFill>
        <p:spPr bwMode="black">
          <a:xfrm>
            <a:off x="0" y="6126480"/>
            <a:ext cx="12192000" cy="742950"/>
          </a:xfrm>
          <a:prstGeom prst="rect">
            <a:avLst/>
          </a:prstGeom>
        </p:spPr>
      </p:pic>
      <p:sp>
        <p:nvSpPr>
          <p:cNvPr id="2" name="Title Placeholder 1"/>
          <p:cNvSpPr>
            <a:spLocks noGrp="1"/>
          </p:cNvSpPr>
          <p:nvPr>
            <p:ph type="title"/>
          </p:nvPr>
        </p:nvSpPr>
        <p:spPr>
          <a:xfrm>
            <a:off x="1451579" y="804519"/>
            <a:ext cx="9603275" cy="1049235"/>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451579" y="2015732"/>
            <a:ext cx="9603275" cy="345061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554138" y="330370"/>
            <a:ext cx="3500715" cy="309201"/>
          </a:xfrm>
          <a:prstGeom prst="rect">
            <a:avLst/>
          </a:prstGeom>
        </p:spPr>
        <p:txBody>
          <a:bodyPr vert="horz" lIns="91440" tIns="45720" rIns="91440" bIns="45720" rtlCol="0" anchor="ctr"/>
          <a:lstStyle>
            <a:lvl1pPr algn="r">
              <a:defRPr sz="1000">
                <a:solidFill>
                  <a:schemeClr val="tx1">
                    <a:tint val="75000"/>
                  </a:schemeClr>
                </a:solidFill>
              </a:defRPr>
            </a:lvl1pPr>
          </a:lstStyle>
          <a:p>
            <a:fld id="{48A87A34-81AB-432B-8DAE-1953F412C126}" type="datetimeFigureOut">
              <a:rPr lang="en-US" dirty="0"/>
              <a:pPr/>
              <a:t>5/26/2025</a:t>
            </a:fld>
            <a:endParaRPr lang="en-US" dirty="0"/>
          </a:p>
        </p:txBody>
      </p:sp>
      <p:sp>
        <p:nvSpPr>
          <p:cNvPr id="5" name="Footer Placeholder 4"/>
          <p:cNvSpPr>
            <a:spLocks noGrp="1"/>
          </p:cNvSpPr>
          <p:nvPr>
            <p:ph type="ftr" sz="quarter" idx="3"/>
          </p:nvPr>
        </p:nvSpPr>
        <p:spPr>
          <a:xfrm>
            <a:off x="1451579" y="329307"/>
            <a:ext cx="5938836" cy="309201"/>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480060" y="798973"/>
            <a:ext cx="811019" cy="503578"/>
          </a:xfrm>
          <a:prstGeom prst="rect">
            <a:avLst/>
          </a:prstGeom>
        </p:spPr>
        <p:txBody>
          <a:bodyPr vert="horz" lIns="91440" tIns="45720" rIns="91440" bIns="45720" rtlCol="0" anchor="t"/>
          <a:lstStyle>
            <a:lvl1pPr algn="r">
              <a:defRPr sz="2800">
                <a:solidFill>
                  <a:schemeClr val="accent1"/>
                </a:solidFill>
              </a:defRPr>
            </a:lvl1pPr>
          </a:lstStyle>
          <a:p>
            <a:fld id="{6D22F896-40B5-4ADD-8801-0D06FADFA095}" type="slidenum">
              <a:rPr lang="en-US" dirty="0"/>
              <a:pPr/>
              <a:t>‹#›</a:t>
            </a:fld>
            <a:endParaRPr lang="en-US" dirty="0"/>
          </a:p>
        </p:txBody>
      </p:sp>
      <p:cxnSp>
        <p:nvCxnSpPr>
          <p:cNvPr id="10" name="Straight Connector 9"/>
          <p:cNvCxnSpPr/>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3200" b="0" i="0" kern="1200" cap="all">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1386F3-25E7-FC00-638F-1588613E88CA}"/>
              </a:ext>
            </a:extLst>
          </p:cNvPr>
          <p:cNvSpPr>
            <a:spLocks noGrp="1"/>
          </p:cNvSpPr>
          <p:nvPr>
            <p:ph type="ctrTitle"/>
          </p:nvPr>
        </p:nvSpPr>
        <p:spPr>
          <a:xfrm>
            <a:off x="2306973" y="243281"/>
            <a:ext cx="8764658" cy="3125615"/>
          </a:xfrm>
        </p:spPr>
        <p:txBody>
          <a:bodyPr/>
          <a:lstStyle/>
          <a:p>
            <a:r>
              <a:rPr lang="en-US" dirty="0">
                <a:latin typeface="Times New Roman" panose="02020603050405020304" pitchFamily="18" charset="0"/>
                <a:cs typeface="Times New Roman" panose="02020603050405020304" pitchFamily="18" charset="0"/>
              </a:rPr>
              <a:t>   COLOR BASED PRODUCT SORTING</a:t>
            </a:r>
            <a:endParaRPr lang="en-IN" dirty="0">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EBBA86B5-2092-93D7-1A43-47509B66E4FD}"/>
              </a:ext>
            </a:extLst>
          </p:cNvPr>
          <p:cNvSpPr>
            <a:spLocks noGrp="1"/>
          </p:cNvSpPr>
          <p:nvPr>
            <p:ph type="subTitle" idx="1"/>
          </p:nvPr>
        </p:nvSpPr>
        <p:spPr>
          <a:xfrm>
            <a:off x="201336" y="3984770"/>
            <a:ext cx="4991449" cy="1963023"/>
          </a:xfrm>
        </p:spPr>
        <p:txBody>
          <a:bodyPr/>
          <a:lstStyle/>
          <a:p>
            <a:r>
              <a:rPr lang="en-US" dirty="0"/>
              <a:t>L.DANIEL (950322106005)</a:t>
            </a:r>
          </a:p>
          <a:p>
            <a:r>
              <a:rPr lang="en-US" dirty="0"/>
              <a:t>G.JOEL RAJ  (950322106008)</a:t>
            </a:r>
          </a:p>
          <a:p>
            <a:r>
              <a:rPr lang="en-US" dirty="0"/>
              <a:t>V.SAKTHI RAJA(950322106012)</a:t>
            </a:r>
            <a:endParaRPr lang="en-IN" dirty="0"/>
          </a:p>
        </p:txBody>
      </p:sp>
    </p:spTree>
    <p:extLst>
      <p:ext uri="{BB962C8B-B14F-4D97-AF65-F5344CB8AC3E}">
        <p14:creationId xmlns:p14="http://schemas.microsoft.com/office/powerpoint/2010/main" val="242907784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7ED938-DC0E-9952-9C69-F7EE61256F73}"/>
              </a:ext>
            </a:extLst>
          </p:cNvPr>
          <p:cNvSpPr>
            <a:spLocks noGrp="1"/>
          </p:cNvSpPr>
          <p:nvPr>
            <p:ph type="title"/>
          </p:nvPr>
        </p:nvSpPr>
        <p:spPr/>
        <p:txBody>
          <a:bodyPr>
            <a:normAutofit/>
          </a:bodyPr>
          <a:lstStyle/>
          <a:p>
            <a:r>
              <a:rPr lang="en-US" sz="4800" dirty="0">
                <a:latin typeface="Times New Roman" panose="02020603050405020304" pitchFamily="18" charset="0"/>
                <a:cs typeface="Times New Roman" panose="02020603050405020304" pitchFamily="18" charset="0"/>
              </a:rPr>
              <a:t>OBJECTIVES</a:t>
            </a:r>
            <a:endParaRPr lang="en-IN" sz="4800" dirty="0">
              <a:latin typeface="Times New Roman" panose="02020603050405020304" pitchFamily="18" charset="0"/>
              <a:cs typeface="Times New Roman" panose="02020603050405020304" pitchFamily="18" charset="0"/>
            </a:endParaRPr>
          </a:p>
        </p:txBody>
      </p:sp>
      <p:sp>
        <p:nvSpPr>
          <p:cNvPr id="4" name="Rectangle 1">
            <a:extLst>
              <a:ext uri="{FF2B5EF4-FFF2-40B4-BE49-F238E27FC236}">
                <a16:creationId xmlns:a16="http://schemas.microsoft.com/office/drawing/2014/main" id="{35CDB614-AD37-4972-6A79-C163E2EDB6B8}"/>
              </a:ext>
            </a:extLst>
          </p:cNvPr>
          <p:cNvSpPr>
            <a:spLocks noGrp="1" noChangeArrowheads="1"/>
          </p:cNvSpPr>
          <p:nvPr>
            <p:ph idx="1"/>
          </p:nvPr>
        </p:nvSpPr>
        <p:spPr bwMode="auto">
          <a:xfrm>
            <a:off x="755009" y="2176007"/>
            <a:ext cx="8061820" cy="31700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just" eaLnBrk="0" fontAlgn="base" hangingPunct="0">
              <a:lnSpc>
                <a:spcPct val="100000"/>
              </a:lnSpc>
              <a:spcBef>
                <a:spcPct val="0"/>
              </a:spcBef>
              <a:spcAft>
                <a:spcPct val="0"/>
              </a:spcAft>
              <a:buClrTx/>
              <a:buSzTx/>
              <a:buFont typeface="Wingdings" panose="05000000000000000000" pitchFamily="2" charset="2"/>
              <a:buChar char="v"/>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Detect and identify object colors using a color sensor.</a:t>
            </a: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R="0" lvl="0" algn="just" defTabSz="914400" rtl="0" eaLnBrk="0" fontAlgn="base" latinLnBrk="0" hangingPunct="0">
              <a:lnSpc>
                <a:spcPct val="100000"/>
              </a:lnSpc>
              <a:spcBef>
                <a:spcPct val="0"/>
              </a:spcBef>
              <a:spcAft>
                <a:spcPct val="0"/>
              </a:spcAft>
              <a:buClrTx/>
              <a:buSzTx/>
              <a:buFont typeface="Wingdings" panose="05000000000000000000" pitchFamily="2" charset="2"/>
              <a:buChar char="v"/>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Automatically sort objects using servo motors.</a:t>
            </a: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R="0" lvl="0" algn="just" defTabSz="914400" rtl="0" eaLnBrk="0" fontAlgn="base" latinLnBrk="0" hangingPunct="0">
              <a:lnSpc>
                <a:spcPct val="100000"/>
              </a:lnSpc>
              <a:spcBef>
                <a:spcPct val="0"/>
              </a:spcBef>
              <a:spcAft>
                <a:spcPct val="0"/>
              </a:spcAft>
              <a:buClrTx/>
              <a:buSzTx/>
              <a:buFont typeface="Wingdings" panose="05000000000000000000" pitchFamily="2" charset="2"/>
              <a:buChar char="v"/>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Display sorting details on an LCD screen.</a:t>
            </a: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R="0" lvl="0" algn="just" defTabSz="914400" rtl="0" eaLnBrk="0" fontAlgn="base" latinLnBrk="0" hangingPunct="0">
              <a:lnSpc>
                <a:spcPct val="100000"/>
              </a:lnSpc>
              <a:spcBef>
                <a:spcPct val="0"/>
              </a:spcBef>
              <a:spcAft>
                <a:spcPct val="0"/>
              </a:spcAft>
              <a:buClrTx/>
              <a:buSzTx/>
              <a:buFont typeface="Wingdings" panose="05000000000000000000" pitchFamily="2" charset="2"/>
              <a:buChar char="v"/>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Improve efficiency in automated sorting systems</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345987666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51FEA7-62C9-501E-D15F-1ED8B32D2E44}"/>
              </a:ext>
            </a:extLst>
          </p:cNvPr>
          <p:cNvSpPr>
            <a:spLocks noGrp="1"/>
          </p:cNvSpPr>
          <p:nvPr>
            <p:ph type="title"/>
          </p:nvPr>
        </p:nvSpPr>
        <p:spPr/>
        <p:txBody>
          <a:bodyPr>
            <a:normAutofit/>
          </a:bodyPr>
          <a:lstStyle/>
          <a:p>
            <a:r>
              <a:rPr lang="en-IN" sz="4800" dirty="0">
                <a:latin typeface="Times New Roman" panose="02020603050405020304" pitchFamily="18" charset="0"/>
                <a:cs typeface="Times New Roman" panose="02020603050405020304" pitchFamily="18" charset="0"/>
              </a:rPr>
              <a:t>Abstract</a:t>
            </a:r>
          </a:p>
        </p:txBody>
      </p:sp>
      <p:sp>
        <p:nvSpPr>
          <p:cNvPr id="4" name="Rectangle 1">
            <a:extLst>
              <a:ext uri="{FF2B5EF4-FFF2-40B4-BE49-F238E27FC236}">
                <a16:creationId xmlns:a16="http://schemas.microsoft.com/office/drawing/2014/main" id="{A5263592-F015-F661-5607-C041135EF89A}"/>
              </a:ext>
            </a:extLst>
          </p:cNvPr>
          <p:cNvSpPr>
            <a:spLocks noGrp="1" noChangeArrowheads="1"/>
          </p:cNvSpPr>
          <p:nvPr>
            <p:ph idx="1"/>
          </p:nvPr>
        </p:nvSpPr>
        <p:spPr bwMode="auto">
          <a:xfrm>
            <a:off x="570451" y="2017492"/>
            <a:ext cx="11187219" cy="34470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v"/>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This project is an </a:t>
            </a: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automated color sorting system</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using a </a:t>
            </a: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TCS3200 color sensor</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None/>
              <a:tabLst/>
            </a:pPr>
            <a:endParaRPr lang="en-US" altLang="en-US" dirty="0">
              <a:latin typeface="Times New Roman" panose="02020603050405020304" pitchFamily="18" charset="0"/>
              <a:cs typeface="Times New Roman" panose="02020603050405020304" pitchFamily="18" charset="0"/>
            </a:endParaRPr>
          </a:p>
          <a:p>
            <a:pPr eaLnBrk="0" fontAlgn="base" hangingPunct="0">
              <a:lnSpc>
                <a:spcPct val="100000"/>
              </a:lnSpc>
              <a:spcBef>
                <a:spcPct val="0"/>
              </a:spcBef>
              <a:spcAft>
                <a:spcPct val="0"/>
              </a:spcAft>
              <a:buClrTx/>
              <a:buSzTx/>
              <a:buFont typeface="Wingdings" panose="05000000000000000000" pitchFamily="2" charset="2"/>
              <a:buChar char="v"/>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system detects an object's color, displays it on an </a:t>
            </a: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LCD</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and sorts it using </a:t>
            </a: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servo motors</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v"/>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 </a:t>
            </a: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conveyor belt</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moves objects to the sorting position</a:t>
            </a:r>
            <a:r>
              <a:rPr lang="en-US" altLang="en-US" dirty="0">
                <a:latin typeface="Times New Roman" panose="02020603050405020304" pitchFamily="18" charset="0"/>
                <a:cs typeface="Times New Roman" panose="02020603050405020304" pitchFamily="18" charset="0"/>
              </a:rPr>
              <a:t>.</a:t>
            </a: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v"/>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This system enhances efficiency in </a:t>
            </a: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industrial and waste management applications</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9118817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31F7D1-CEE4-4D59-BCA4-34641B81A35A}"/>
              </a:ext>
            </a:extLst>
          </p:cNvPr>
          <p:cNvSpPr>
            <a:spLocks noGrp="1"/>
          </p:cNvSpPr>
          <p:nvPr>
            <p:ph type="title"/>
          </p:nvPr>
        </p:nvSpPr>
        <p:spPr>
          <a:xfrm>
            <a:off x="1509945" y="963038"/>
            <a:ext cx="9603275" cy="803167"/>
          </a:xfrm>
        </p:spPr>
        <p:txBody>
          <a:bodyPr>
            <a:normAutofit fontScale="90000"/>
          </a:bodyPr>
          <a:lstStyle/>
          <a:p>
            <a:r>
              <a:rPr lang="en-US" sz="5300" dirty="0">
                <a:latin typeface="Times New Roman" panose="02020603050405020304" pitchFamily="18" charset="0"/>
                <a:cs typeface="Times New Roman" panose="02020603050405020304" pitchFamily="18" charset="0"/>
              </a:rPr>
              <a:t>Literature survey</a:t>
            </a:r>
            <a:br>
              <a:rPr lang="en-US" sz="4800" dirty="0">
                <a:latin typeface="Times New Roman" panose="02020603050405020304" pitchFamily="18" charset="0"/>
                <a:cs typeface="Times New Roman" panose="02020603050405020304" pitchFamily="18" charset="0"/>
              </a:rPr>
            </a:br>
            <a:br>
              <a:rPr lang="en-US" sz="4800" dirty="0">
                <a:latin typeface="Times New Roman" panose="02020603050405020304" pitchFamily="18" charset="0"/>
                <a:cs typeface="Times New Roman" panose="02020603050405020304" pitchFamily="18" charset="0"/>
              </a:rPr>
            </a:br>
            <a:endParaRPr lang="en-IN" sz="4800" dirty="0">
              <a:latin typeface="Times New Roman" panose="02020603050405020304" pitchFamily="18" charset="0"/>
              <a:cs typeface="Times New Roman" panose="02020603050405020304" pitchFamily="18" charset="0"/>
            </a:endParaRPr>
          </a:p>
        </p:txBody>
      </p:sp>
      <p:graphicFrame>
        <p:nvGraphicFramePr>
          <p:cNvPr id="9" name="Content Placeholder 8">
            <a:extLst>
              <a:ext uri="{FF2B5EF4-FFF2-40B4-BE49-F238E27FC236}">
                <a16:creationId xmlns:a16="http://schemas.microsoft.com/office/drawing/2014/main" id="{206718B7-3AF6-6F63-09B2-50E3D2BB1A4C}"/>
              </a:ext>
            </a:extLst>
          </p:cNvPr>
          <p:cNvGraphicFramePr>
            <a:graphicFrameLocks noGrp="1"/>
          </p:cNvGraphicFramePr>
          <p:nvPr>
            <p:ph idx="1"/>
            <p:extLst>
              <p:ext uri="{D42A27DB-BD31-4B8C-83A1-F6EECF244321}">
                <p14:modId xmlns:p14="http://schemas.microsoft.com/office/powerpoint/2010/main" val="2769388390"/>
              </p:ext>
            </p:extLst>
          </p:nvPr>
        </p:nvGraphicFramePr>
        <p:xfrm>
          <a:off x="651753" y="1994171"/>
          <a:ext cx="11021440" cy="4274004"/>
        </p:xfrm>
        <a:graphic>
          <a:graphicData uri="http://schemas.openxmlformats.org/drawingml/2006/table">
            <a:tbl>
              <a:tblPr firstRow="1" bandRow="1">
                <a:tableStyleId>{5C22544A-7EE6-4342-B048-85BDC9FD1C3A}</a:tableStyleId>
              </a:tblPr>
              <a:tblGrid>
                <a:gridCol w="2755360">
                  <a:extLst>
                    <a:ext uri="{9D8B030D-6E8A-4147-A177-3AD203B41FA5}">
                      <a16:colId xmlns:a16="http://schemas.microsoft.com/office/drawing/2014/main" val="2227739195"/>
                    </a:ext>
                  </a:extLst>
                </a:gridCol>
                <a:gridCol w="2755360">
                  <a:extLst>
                    <a:ext uri="{9D8B030D-6E8A-4147-A177-3AD203B41FA5}">
                      <a16:colId xmlns:a16="http://schemas.microsoft.com/office/drawing/2014/main" val="313271989"/>
                    </a:ext>
                  </a:extLst>
                </a:gridCol>
                <a:gridCol w="2755360">
                  <a:extLst>
                    <a:ext uri="{9D8B030D-6E8A-4147-A177-3AD203B41FA5}">
                      <a16:colId xmlns:a16="http://schemas.microsoft.com/office/drawing/2014/main" val="1608112725"/>
                    </a:ext>
                  </a:extLst>
                </a:gridCol>
                <a:gridCol w="2755360">
                  <a:extLst>
                    <a:ext uri="{9D8B030D-6E8A-4147-A177-3AD203B41FA5}">
                      <a16:colId xmlns:a16="http://schemas.microsoft.com/office/drawing/2014/main" val="2218488031"/>
                    </a:ext>
                  </a:extLst>
                </a:gridCol>
              </a:tblGrid>
              <a:tr h="1256484">
                <a:tc>
                  <a:txBody>
                    <a:bodyPr/>
                    <a:lstStyle/>
                    <a:p>
                      <a:endParaRPr lang="en-US" sz="2400" dirty="0">
                        <a:solidFill>
                          <a:schemeClr val="tx1"/>
                        </a:solidFill>
                        <a:latin typeface="Times New Roman" panose="02020603050405020304" pitchFamily="18" charset="0"/>
                        <a:cs typeface="Times New Roman" panose="02020603050405020304" pitchFamily="18" charset="0"/>
                      </a:endParaRPr>
                    </a:p>
                    <a:p>
                      <a:r>
                        <a:rPr lang="en-US" sz="2400" dirty="0">
                          <a:solidFill>
                            <a:schemeClr val="tx1"/>
                          </a:solidFill>
                          <a:latin typeface="Times New Roman" panose="02020603050405020304" pitchFamily="18" charset="0"/>
                          <a:cs typeface="Times New Roman" panose="02020603050405020304" pitchFamily="18" charset="0"/>
                        </a:rPr>
                        <a:t>    PAPER TITLE</a:t>
                      </a:r>
                    </a:p>
                    <a:p>
                      <a:r>
                        <a:rPr lang="en-US" b="1" dirty="0">
                          <a:solidFill>
                            <a:schemeClr val="tx1"/>
                          </a:solidFill>
                        </a:rPr>
                        <a:t>   </a:t>
                      </a:r>
                      <a:endParaRPr lang="en-IN" sz="2400" b="1" dirty="0">
                        <a:solidFill>
                          <a:schemeClr val="tx1"/>
                        </a:solidFill>
                        <a:latin typeface="Times New Roman" panose="02020603050405020304" pitchFamily="18" charset="0"/>
                        <a:cs typeface="Times New Roman" panose="02020603050405020304" pitchFamily="18" charset="0"/>
                      </a:endParaRPr>
                    </a:p>
                  </a:txBody>
                  <a:tcPr/>
                </a:tc>
                <a:tc>
                  <a:txBody>
                    <a:bodyPr/>
                    <a:lstStyle/>
                    <a:p>
                      <a:r>
                        <a:rPr lang="en-US" sz="2400" dirty="0">
                          <a:solidFill>
                            <a:schemeClr val="tx1"/>
                          </a:solidFill>
                          <a:latin typeface="Times New Roman" panose="02020603050405020304" pitchFamily="18" charset="0"/>
                          <a:cs typeface="Times New Roman" panose="02020603050405020304" pitchFamily="18" charset="0"/>
                        </a:rPr>
                        <a:t>    </a:t>
                      </a:r>
                    </a:p>
                    <a:p>
                      <a:r>
                        <a:rPr lang="en-US" sz="2400" dirty="0">
                          <a:solidFill>
                            <a:schemeClr val="tx1"/>
                          </a:solidFill>
                          <a:latin typeface="Times New Roman" panose="02020603050405020304" pitchFamily="18" charset="0"/>
                          <a:cs typeface="Times New Roman" panose="02020603050405020304" pitchFamily="18" charset="0"/>
                        </a:rPr>
                        <a:t>       AUTHORS</a:t>
                      </a:r>
                    </a:p>
                    <a:p>
                      <a:endParaRPr lang="en-IN" sz="2400" dirty="0">
                        <a:solidFill>
                          <a:schemeClr val="tx1"/>
                        </a:solidFill>
                        <a:latin typeface="Times New Roman" panose="02020603050405020304" pitchFamily="18" charset="0"/>
                        <a:cs typeface="Times New Roman" panose="02020603050405020304" pitchFamily="18" charset="0"/>
                      </a:endParaRPr>
                    </a:p>
                  </a:txBody>
                  <a:tcPr/>
                </a:tc>
                <a:tc>
                  <a:txBody>
                    <a:bodyPr/>
                    <a:lstStyle/>
                    <a:p>
                      <a:endParaRPr lang="en-US" sz="2400" dirty="0">
                        <a:latin typeface="Times New Roman" panose="02020603050405020304" pitchFamily="18" charset="0"/>
                        <a:cs typeface="Times New Roman" panose="02020603050405020304" pitchFamily="18" charset="0"/>
                      </a:endParaRPr>
                    </a:p>
                    <a:p>
                      <a:r>
                        <a:rPr lang="en-US" sz="2400" dirty="0">
                          <a:solidFill>
                            <a:schemeClr val="tx1"/>
                          </a:solidFill>
                          <a:latin typeface="Times New Roman" panose="02020603050405020304" pitchFamily="18" charset="0"/>
                          <a:cs typeface="Times New Roman" panose="02020603050405020304" pitchFamily="18" charset="0"/>
                        </a:rPr>
                        <a:t>METHODOLOGY</a:t>
                      </a:r>
                      <a:endParaRPr lang="en-IN" sz="2400" dirty="0">
                        <a:solidFill>
                          <a:schemeClr val="tx1"/>
                        </a:solidFill>
                        <a:latin typeface="Times New Roman" panose="02020603050405020304" pitchFamily="18" charset="0"/>
                        <a:cs typeface="Times New Roman" panose="02020603050405020304" pitchFamily="18" charset="0"/>
                      </a:endParaRPr>
                    </a:p>
                  </a:txBody>
                  <a:tcPr/>
                </a:tc>
                <a:tc>
                  <a:txBody>
                    <a:bodyPr/>
                    <a:lstStyle/>
                    <a:p>
                      <a:endParaRPr lang="en-US" sz="2400" dirty="0">
                        <a:solidFill>
                          <a:schemeClr val="tx1"/>
                        </a:solidFill>
                        <a:latin typeface="Times New Roman" panose="02020603050405020304" pitchFamily="18" charset="0"/>
                        <a:cs typeface="Times New Roman" panose="02020603050405020304" pitchFamily="18" charset="0"/>
                      </a:endParaRPr>
                    </a:p>
                    <a:p>
                      <a:r>
                        <a:rPr lang="en-US" sz="2400" dirty="0">
                          <a:solidFill>
                            <a:schemeClr val="tx1"/>
                          </a:solidFill>
                          <a:latin typeface="Times New Roman" panose="02020603050405020304" pitchFamily="18" charset="0"/>
                          <a:cs typeface="Times New Roman" panose="02020603050405020304" pitchFamily="18" charset="0"/>
                        </a:rPr>
                        <a:t>   DRAWBACKS</a:t>
                      </a:r>
                      <a:endParaRPr lang="en-IN" sz="2400" dirty="0">
                        <a:solidFill>
                          <a:schemeClr val="tx1"/>
                        </a:solidFill>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645010760"/>
                  </a:ext>
                </a:extLst>
              </a:tr>
              <a:tr h="915894">
                <a:tc>
                  <a:txBody>
                    <a:bodyPr/>
                    <a:lstStyle/>
                    <a:p>
                      <a:r>
                        <a:rPr lang="en-US" sz="2000" dirty="0">
                          <a:latin typeface="Times New Roman" panose="02020603050405020304" pitchFamily="18" charset="0"/>
                          <a:cs typeface="Times New Roman" panose="02020603050405020304" pitchFamily="18" charset="0"/>
                        </a:rPr>
                        <a:t>Sensor-based color sorting system using conveyor system</a:t>
                      </a:r>
                      <a:endParaRPr lang="en-IN" sz="2000" dirty="0">
                        <a:latin typeface="Times New Roman" panose="02020603050405020304" pitchFamily="18" charset="0"/>
                        <a:cs typeface="Times New Roman" panose="02020603050405020304" pitchFamily="18" charset="0"/>
                      </a:endParaRPr>
                    </a:p>
                  </a:txBody>
                  <a:tcPr/>
                </a:tc>
                <a:tc>
                  <a:txBody>
                    <a:bodyPr/>
                    <a:lstStyle/>
                    <a:p>
                      <a:r>
                        <a:rPr lang="en-IN" sz="2000" dirty="0">
                          <a:latin typeface="Times New Roman" panose="02020603050405020304" pitchFamily="18" charset="0"/>
                          <a:cs typeface="Times New Roman" panose="02020603050405020304" pitchFamily="18" charset="0"/>
                        </a:rPr>
                        <a:t>Md. </a:t>
                      </a:r>
                      <a:r>
                        <a:rPr lang="en-IN" sz="2000" dirty="0" err="1">
                          <a:latin typeface="Times New Roman" panose="02020603050405020304" pitchFamily="18" charset="0"/>
                          <a:cs typeface="Times New Roman" panose="02020603050405020304" pitchFamily="18" charset="0"/>
                        </a:rPr>
                        <a:t>Mostafizur</a:t>
                      </a:r>
                      <a:r>
                        <a:rPr lang="en-IN" sz="2000" dirty="0">
                          <a:latin typeface="Times New Roman" panose="02020603050405020304" pitchFamily="18" charset="0"/>
                          <a:cs typeface="Times New Roman" panose="02020603050405020304" pitchFamily="18" charset="0"/>
                        </a:rPr>
                        <a:t> Rohman Komol</a:t>
                      </a:r>
                    </a:p>
                  </a:txBody>
                  <a:tcPr/>
                </a:tc>
                <a:tc>
                  <a:txBody>
                    <a:bodyPr/>
                    <a:lstStyle/>
                    <a:p>
                      <a:r>
                        <a:rPr lang="en-US" sz="2000" dirty="0">
                          <a:latin typeface="Times New Roman" panose="02020603050405020304" pitchFamily="18" charset="0"/>
                          <a:cs typeface="Times New Roman" panose="02020603050405020304" pitchFamily="18" charset="0"/>
                        </a:rPr>
                        <a:t>Conveyor belt and color detection technology</a:t>
                      </a:r>
                      <a:endParaRPr lang="en-IN" sz="2000" dirty="0">
                        <a:latin typeface="Times New Roman" panose="02020603050405020304" pitchFamily="18" charset="0"/>
                        <a:cs typeface="Times New Roman" panose="02020603050405020304" pitchFamily="18" charset="0"/>
                      </a:endParaRPr>
                    </a:p>
                  </a:txBody>
                  <a:tcPr/>
                </a:tc>
                <a:tc>
                  <a:txBody>
                    <a:bodyPr/>
                    <a:lstStyle/>
                    <a:p>
                      <a:r>
                        <a:rPr lang="en-US" sz="2000" dirty="0">
                          <a:latin typeface="Times New Roman" panose="02020603050405020304" pitchFamily="18" charset="0"/>
                          <a:cs typeface="Times New Roman" panose="02020603050405020304" pitchFamily="18" charset="0"/>
                        </a:rPr>
                        <a:t>Limited color detection, mechanical limitations</a:t>
                      </a:r>
                      <a:endParaRPr lang="en-IN"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870886930"/>
                  </a:ext>
                </a:extLst>
              </a:tr>
              <a:tr h="915894">
                <a:tc>
                  <a:txBody>
                    <a:bodyPr/>
                    <a:lstStyle/>
                    <a:p>
                      <a:r>
                        <a:rPr lang="en-US" sz="2000" dirty="0">
                          <a:latin typeface="Times New Roman" panose="02020603050405020304" pitchFamily="18" charset="0"/>
                          <a:cs typeface="Times New Roman" panose="02020603050405020304" pitchFamily="18" charset="0"/>
                        </a:rPr>
                        <a:t>Color sensor-based optical sorting machine</a:t>
                      </a:r>
                      <a:endParaRPr lang="en-IN" sz="2000" dirty="0">
                        <a:latin typeface="Times New Roman" panose="02020603050405020304" pitchFamily="18" charset="0"/>
                        <a:cs typeface="Times New Roman" panose="02020603050405020304" pitchFamily="18" charset="0"/>
                      </a:endParaRPr>
                    </a:p>
                  </a:txBody>
                  <a:tcPr/>
                </a:tc>
                <a:tc>
                  <a:txBody>
                    <a:bodyPr/>
                    <a:lstStyle/>
                    <a:p>
                      <a:r>
                        <a:rPr lang="en-IN" sz="2000" dirty="0">
                          <a:latin typeface="Times New Roman" panose="02020603050405020304" pitchFamily="18" charset="0"/>
                          <a:cs typeface="Times New Roman" panose="02020603050405020304" pitchFamily="18" charset="0"/>
                        </a:rPr>
                        <a:t>Timothy Henry</a:t>
                      </a:r>
                    </a:p>
                  </a:txBody>
                  <a:tcPr/>
                </a:tc>
                <a:tc>
                  <a:txBody>
                    <a:bodyPr/>
                    <a:lstStyle/>
                    <a:p>
                      <a:r>
                        <a:rPr lang="en-US" sz="2000" dirty="0">
                          <a:latin typeface="Times New Roman" panose="02020603050405020304" pitchFamily="18" charset="0"/>
                          <a:cs typeface="Times New Roman" panose="02020603050405020304" pitchFamily="18" charset="0"/>
                        </a:rPr>
                        <a:t>Color-based product sorting using a color sensor</a:t>
                      </a:r>
                      <a:endParaRPr lang="en-IN" sz="2000" dirty="0">
                        <a:latin typeface="Times New Roman" panose="02020603050405020304" pitchFamily="18" charset="0"/>
                        <a:cs typeface="Times New Roman" panose="02020603050405020304" pitchFamily="18" charset="0"/>
                      </a:endParaRPr>
                    </a:p>
                  </a:txBody>
                  <a:tcPr/>
                </a:tc>
                <a:tc>
                  <a:txBody>
                    <a:bodyPr/>
                    <a:lstStyle/>
                    <a:p>
                      <a:r>
                        <a:rPr lang="en-IN" sz="2000" dirty="0">
                          <a:latin typeface="Times New Roman" panose="02020603050405020304" pitchFamily="18" charset="0"/>
                          <a:cs typeface="Times New Roman" panose="02020603050405020304" pitchFamily="18" charset="0"/>
                        </a:rPr>
                        <a:t>Inconsistent sensor settings</a:t>
                      </a:r>
                    </a:p>
                  </a:txBody>
                  <a:tcPr/>
                </a:tc>
                <a:extLst>
                  <a:ext uri="{0D108BD9-81ED-4DB2-BD59-A6C34878D82A}">
                    <a16:rowId xmlns:a16="http://schemas.microsoft.com/office/drawing/2014/main" val="495403955"/>
                  </a:ext>
                </a:extLst>
              </a:tr>
              <a:tr h="903348">
                <a:tc>
                  <a:txBody>
                    <a:bodyPr/>
                    <a:lstStyle/>
                    <a:p>
                      <a:r>
                        <a:rPr lang="en-US" sz="2000" dirty="0">
                          <a:latin typeface="Times New Roman" panose="02020603050405020304" pitchFamily="18" charset="0"/>
                          <a:cs typeface="Times New Roman" panose="02020603050405020304" pitchFamily="18" charset="0"/>
                        </a:rPr>
                        <a:t>Design a product separating conveyor based on color</a:t>
                      </a:r>
                      <a:endParaRPr lang="en-IN" sz="2000" dirty="0">
                        <a:latin typeface="Times New Roman" panose="02020603050405020304" pitchFamily="18" charset="0"/>
                        <a:cs typeface="Times New Roman" panose="02020603050405020304" pitchFamily="18" charset="0"/>
                      </a:endParaRPr>
                    </a:p>
                  </a:txBody>
                  <a:tcPr/>
                </a:tc>
                <a:tc>
                  <a:txBody>
                    <a:bodyPr/>
                    <a:lstStyle/>
                    <a:p>
                      <a:r>
                        <a:rPr lang="en-IN" sz="2000" dirty="0">
                          <a:latin typeface="Times New Roman" panose="02020603050405020304" pitchFamily="18" charset="0"/>
                          <a:cs typeface="Times New Roman" panose="02020603050405020304" pitchFamily="18" charset="0"/>
                        </a:rPr>
                        <a:t>Malathy Jawahar</a:t>
                      </a:r>
                    </a:p>
                  </a:txBody>
                  <a:tcPr/>
                </a:tc>
                <a:tc>
                  <a:txBody>
                    <a:bodyPr/>
                    <a:lstStyle/>
                    <a:p>
                      <a:r>
                        <a:rPr lang="en-US" sz="2000" dirty="0">
                          <a:latin typeface="Times New Roman" panose="02020603050405020304" pitchFamily="18" charset="0"/>
                          <a:cs typeface="Times New Roman" panose="02020603050405020304" pitchFamily="18" charset="0"/>
                        </a:rPr>
                        <a:t>Color sorting by image processing technology</a:t>
                      </a:r>
                      <a:endParaRPr lang="en-IN" sz="2000" dirty="0">
                        <a:latin typeface="Times New Roman" panose="02020603050405020304" pitchFamily="18" charset="0"/>
                        <a:cs typeface="Times New Roman" panose="02020603050405020304" pitchFamily="18" charset="0"/>
                      </a:endParaRPr>
                    </a:p>
                  </a:txBody>
                  <a:tcPr/>
                </a:tc>
                <a:tc>
                  <a:txBody>
                    <a:bodyPr/>
                    <a:lstStyle/>
                    <a:p>
                      <a:r>
                        <a:rPr lang="en-IN" sz="2000" dirty="0">
                          <a:latin typeface="Times New Roman" panose="02020603050405020304" pitchFamily="18" charset="0"/>
                          <a:cs typeface="Times New Roman" panose="02020603050405020304" pitchFamily="18" charset="0"/>
                        </a:rPr>
                        <a:t>Processing time, limited accuracy</a:t>
                      </a:r>
                    </a:p>
                  </a:txBody>
                  <a:tcPr/>
                </a:tc>
                <a:extLst>
                  <a:ext uri="{0D108BD9-81ED-4DB2-BD59-A6C34878D82A}">
                    <a16:rowId xmlns:a16="http://schemas.microsoft.com/office/drawing/2014/main" val="2203162589"/>
                  </a:ext>
                </a:extLst>
              </a:tr>
            </a:tbl>
          </a:graphicData>
        </a:graphic>
      </p:graphicFrame>
    </p:spTree>
    <p:extLst>
      <p:ext uri="{BB962C8B-B14F-4D97-AF65-F5344CB8AC3E}">
        <p14:creationId xmlns:p14="http://schemas.microsoft.com/office/powerpoint/2010/main" val="363621124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F3342B9A-D9AC-5A59-8F52-7A47B7EE0DE6}"/>
              </a:ext>
            </a:extLst>
          </p:cNvPr>
          <p:cNvGraphicFramePr>
            <a:graphicFrameLocks noGrp="1"/>
          </p:cNvGraphicFramePr>
          <p:nvPr>
            <p:extLst>
              <p:ext uri="{D42A27DB-BD31-4B8C-83A1-F6EECF244321}">
                <p14:modId xmlns:p14="http://schemas.microsoft.com/office/powerpoint/2010/main" val="2060549672"/>
              </p:ext>
            </p:extLst>
          </p:nvPr>
        </p:nvGraphicFramePr>
        <p:xfrm>
          <a:off x="377505" y="109057"/>
          <a:ext cx="11383860" cy="5425440"/>
        </p:xfrm>
        <a:graphic>
          <a:graphicData uri="http://schemas.openxmlformats.org/drawingml/2006/table">
            <a:tbl>
              <a:tblPr firstRow="1" bandRow="1">
                <a:tableStyleId>{5C22544A-7EE6-4342-B048-85BDC9FD1C3A}</a:tableStyleId>
              </a:tblPr>
              <a:tblGrid>
                <a:gridCol w="2845965">
                  <a:extLst>
                    <a:ext uri="{9D8B030D-6E8A-4147-A177-3AD203B41FA5}">
                      <a16:colId xmlns:a16="http://schemas.microsoft.com/office/drawing/2014/main" val="469447245"/>
                    </a:ext>
                  </a:extLst>
                </a:gridCol>
                <a:gridCol w="2845965">
                  <a:extLst>
                    <a:ext uri="{9D8B030D-6E8A-4147-A177-3AD203B41FA5}">
                      <a16:colId xmlns:a16="http://schemas.microsoft.com/office/drawing/2014/main" val="96310174"/>
                    </a:ext>
                  </a:extLst>
                </a:gridCol>
                <a:gridCol w="2845965">
                  <a:extLst>
                    <a:ext uri="{9D8B030D-6E8A-4147-A177-3AD203B41FA5}">
                      <a16:colId xmlns:a16="http://schemas.microsoft.com/office/drawing/2014/main" val="3374814291"/>
                    </a:ext>
                  </a:extLst>
                </a:gridCol>
                <a:gridCol w="2845965">
                  <a:extLst>
                    <a:ext uri="{9D8B030D-6E8A-4147-A177-3AD203B41FA5}">
                      <a16:colId xmlns:a16="http://schemas.microsoft.com/office/drawing/2014/main" val="1001047464"/>
                    </a:ext>
                  </a:extLst>
                </a:gridCol>
              </a:tblGrid>
              <a:tr h="859871">
                <a:tc>
                  <a:txBody>
                    <a:bodyPr/>
                    <a:lstStyle/>
                    <a:p>
                      <a:r>
                        <a:rPr lang="en-US" sz="1800" dirty="0">
                          <a:solidFill>
                            <a:schemeClr val="tx1"/>
                          </a:solidFill>
                          <a:latin typeface="Times New Roman" panose="02020603050405020304" pitchFamily="18" charset="0"/>
                          <a:cs typeface="Times New Roman" panose="02020603050405020304" pitchFamily="18" charset="0"/>
                        </a:rPr>
                        <a:t>     </a:t>
                      </a:r>
                    </a:p>
                    <a:p>
                      <a:r>
                        <a:rPr lang="en-US" sz="1800" dirty="0">
                          <a:solidFill>
                            <a:schemeClr val="tx1"/>
                          </a:solidFill>
                          <a:latin typeface="Times New Roman" panose="02020603050405020304" pitchFamily="18" charset="0"/>
                          <a:cs typeface="Times New Roman" panose="02020603050405020304" pitchFamily="18" charset="0"/>
                        </a:rPr>
                        <a:t>         </a:t>
                      </a:r>
                      <a:r>
                        <a:rPr lang="en-US" sz="2000" dirty="0">
                          <a:solidFill>
                            <a:schemeClr val="tx1"/>
                          </a:solidFill>
                          <a:latin typeface="Times New Roman" panose="02020603050405020304" pitchFamily="18" charset="0"/>
                          <a:cs typeface="Times New Roman" panose="02020603050405020304" pitchFamily="18" charset="0"/>
                        </a:rPr>
                        <a:t>PAPER TITLE</a:t>
                      </a:r>
                      <a:endParaRPr lang="en-IN" sz="20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solidFill>
                            <a:schemeClr val="tx1"/>
                          </a:solidFill>
                          <a:latin typeface="Times New Roman" panose="02020603050405020304" pitchFamily="18" charset="0"/>
                          <a:cs typeface="Times New Roman" panose="02020603050405020304" pitchFamily="18" charset="0"/>
                        </a:rPr>
                        <a:t>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solidFill>
                            <a:schemeClr val="tx1"/>
                          </a:solidFill>
                          <a:latin typeface="Times New Roman" panose="02020603050405020304" pitchFamily="18" charset="0"/>
                          <a:cs typeface="Times New Roman" panose="02020603050405020304" pitchFamily="18" charset="0"/>
                        </a:rPr>
                        <a:t>             </a:t>
                      </a:r>
                      <a:r>
                        <a:rPr lang="en-US" sz="2000" dirty="0">
                          <a:solidFill>
                            <a:schemeClr val="tx1"/>
                          </a:solidFill>
                          <a:latin typeface="Times New Roman" panose="02020603050405020304" pitchFamily="18" charset="0"/>
                          <a:cs typeface="Times New Roman" panose="02020603050405020304" pitchFamily="18" charset="0"/>
                        </a:rPr>
                        <a:t>AUTHORS</a:t>
                      </a:r>
                    </a:p>
                    <a:p>
                      <a:endParaRPr lang="en-IN"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solidFill>
                            <a:schemeClr val="tx1"/>
                          </a:solidFill>
                          <a:latin typeface="Times New Roman" panose="02020603050405020304" pitchFamily="18" charset="0"/>
                          <a:cs typeface="Times New Roman" panose="02020603050405020304" pitchFamily="18" charset="0"/>
                        </a:rPr>
                        <a:t>        </a:t>
                      </a:r>
                      <a:r>
                        <a:rPr lang="en-US" sz="2000" dirty="0">
                          <a:solidFill>
                            <a:schemeClr val="tx1"/>
                          </a:solidFill>
                          <a:latin typeface="Times New Roman" panose="02020603050405020304" pitchFamily="18" charset="0"/>
                          <a:cs typeface="Times New Roman" panose="02020603050405020304" pitchFamily="18" charset="0"/>
                        </a:rPr>
                        <a:t>METHODOLOGY</a:t>
                      </a:r>
                      <a:endParaRPr lang="en-IN" sz="2000" dirty="0">
                        <a:solidFill>
                          <a:schemeClr val="tx1"/>
                        </a:solidFill>
                        <a:latin typeface="Times New Roman" panose="02020603050405020304" pitchFamily="18" charset="0"/>
                        <a:cs typeface="Times New Roman" panose="02020603050405020304" pitchFamily="18" charset="0"/>
                      </a:endParaRPr>
                    </a:p>
                    <a:p>
                      <a:endParaRPr lang="en-IN" dirty="0"/>
                    </a:p>
                  </a:txBody>
                  <a:tcPr/>
                </a:tc>
                <a:tc>
                  <a:txBody>
                    <a:bodyPr/>
                    <a:lstStyle/>
                    <a:p>
                      <a:endParaRPr lang="en-US" sz="1800" dirty="0">
                        <a:solidFill>
                          <a:schemeClr val="tx1"/>
                        </a:solidFill>
                        <a:latin typeface="Times New Roman" panose="02020603050405020304" pitchFamily="18" charset="0"/>
                        <a:cs typeface="Times New Roman" panose="02020603050405020304" pitchFamily="18" charset="0"/>
                      </a:endParaRPr>
                    </a:p>
                    <a:p>
                      <a:r>
                        <a:rPr lang="en-US" sz="1800" dirty="0">
                          <a:solidFill>
                            <a:schemeClr val="tx1"/>
                          </a:solidFill>
                          <a:latin typeface="Times New Roman" panose="02020603050405020304" pitchFamily="18" charset="0"/>
                          <a:cs typeface="Times New Roman" panose="02020603050405020304" pitchFamily="18" charset="0"/>
                        </a:rPr>
                        <a:t>        </a:t>
                      </a:r>
                      <a:r>
                        <a:rPr lang="en-US" sz="2000" dirty="0">
                          <a:solidFill>
                            <a:schemeClr val="tx1"/>
                          </a:solidFill>
                          <a:latin typeface="Times New Roman" panose="02020603050405020304" pitchFamily="18" charset="0"/>
                          <a:cs typeface="Times New Roman" panose="02020603050405020304" pitchFamily="18" charset="0"/>
                        </a:rPr>
                        <a:t>DRAWBACKS</a:t>
                      </a:r>
                      <a:endParaRPr lang="en-IN" sz="2000" dirty="0">
                        <a:solidFill>
                          <a:schemeClr val="tx1"/>
                        </a:solidFill>
                        <a:latin typeface="Times New Roman" panose="02020603050405020304" pitchFamily="18" charset="0"/>
                        <a:cs typeface="Times New Roman" panose="02020603050405020304" pitchFamily="18" charset="0"/>
                      </a:endParaRPr>
                    </a:p>
                    <a:p>
                      <a:endParaRPr lang="en-IN" dirty="0"/>
                    </a:p>
                  </a:txBody>
                  <a:tcPr/>
                </a:tc>
                <a:extLst>
                  <a:ext uri="{0D108BD9-81ED-4DB2-BD59-A6C34878D82A}">
                    <a16:rowId xmlns:a16="http://schemas.microsoft.com/office/drawing/2014/main" val="1835222676"/>
                  </a:ext>
                </a:extLst>
              </a:tr>
              <a:tr h="859871">
                <a:tc>
                  <a:txBody>
                    <a:bodyPr/>
                    <a:lstStyle/>
                    <a:p>
                      <a:r>
                        <a:rPr lang="en-IN" sz="1800" kern="1200" dirty="0">
                          <a:solidFill>
                            <a:schemeClr val="dk1"/>
                          </a:solidFill>
                          <a:effectLst/>
                          <a:latin typeface="Times New Roman" panose="02020603050405020304" pitchFamily="18" charset="0"/>
                          <a:ea typeface="+mn-ea"/>
                          <a:cs typeface="Times New Roman" panose="02020603050405020304" pitchFamily="18" charset="0"/>
                        </a:rPr>
                        <a:t>Colorimetric sensor array for soft drinks analysis</a:t>
                      </a:r>
                      <a:endParaRPr lang="en-IN" dirty="0">
                        <a:latin typeface="Times New Roman" panose="02020603050405020304" pitchFamily="18" charset="0"/>
                        <a:cs typeface="Times New Roman" panose="02020603050405020304" pitchFamily="18" charset="0"/>
                      </a:endParaRPr>
                    </a:p>
                  </a:txBody>
                  <a:tcPr/>
                </a:tc>
                <a:tc>
                  <a:txBody>
                    <a:bodyPr/>
                    <a:lstStyle/>
                    <a:p>
                      <a:endParaRPr lang="en-IN" sz="1800" kern="1200" dirty="0">
                        <a:solidFill>
                          <a:schemeClr val="dk1"/>
                        </a:solidFill>
                        <a:effectLst/>
                        <a:latin typeface="Times New Roman" panose="02020603050405020304" pitchFamily="18" charset="0"/>
                        <a:ea typeface="+mn-ea"/>
                        <a:cs typeface="Times New Roman" panose="02020603050405020304" pitchFamily="18" charset="0"/>
                      </a:endParaRPr>
                    </a:p>
                    <a:p>
                      <a:r>
                        <a:rPr lang="en-IN" sz="1800" kern="1200" dirty="0">
                          <a:solidFill>
                            <a:schemeClr val="dk1"/>
                          </a:solidFill>
                          <a:effectLst/>
                          <a:latin typeface="Times New Roman" panose="02020603050405020304" pitchFamily="18" charset="0"/>
                          <a:ea typeface="+mn-ea"/>
                          <a:cs typeface="Times New Roman" panose="02020603050405020304" pitchFamily="18" charset="0"/>
                        </a:rPr>
                        <a:t>   C. Zhang and K. S. </a:t>
                      </a:r>
                      <a:r>
                        <a:rPr lang="en-IN" sz="1800" kern="1200" dirty="0" err="1">
                          <a:solidFill>
                            <a:schemeClr val="dk1"/>
                          </a:solidFill>
                          <a:effectLst/>
                          <a:latin typeface="Times New Roman" panose="02020603050405020304" pitchFamily="18" charset="0"/>
                          <a:ea typeface="+mn-ea"/>
                          <a:cs typeface="Times New Roman" panose="02020603050405020304" pitchFamily="18" charset="0"/>
                        </a:rPr>
                        <a:t>Suslick</a:t>
                      </a:r>
                      <a:endParaRPr lang="en-IN"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Used an array of color sensors to detect flavor and freshness in soft drinks.</a:t>
                      </a:r>
                      <a:endParaRPr lang="en-IN"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Limited to liquid samples and may not perform well with carbonated beverages.</a:t>
                      </a:r>
                      <a:endParaRPr lang="en-IN"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271742875"/>
                  </a:ext>
                </a:extLst>
              </a:tr>
              <a:tr h="859871">
                <a:tc>
                  <a:txBody>
                    <a:bodyPr/>
                    <a:lstStyle/>
                    <a:p>
                      <a:r>
                        <a:rPr lang="en-IN" sz="1800" kern="1200" dirty="0" err="1">
                          <a:solidFill>
                            <a:schemeClr val="dk1"/>
                          </a:solidFill>
                          <a:effectLst/>
                          <a:latin typeface="Times New Roman" panose="02020603050405020304" pitchFamily="18" charset="0"/>
                          <a:ea typeface="+mn-ea"/>
                          <a:cs typeface="Times New Roman" panose="02020603050405020304" pitchFamily="18" charset="0"/>
                        </a:rPr>
                        <a:t>Color</a:t>
                      </a:r>
                      <a:r>
                        <a:rPr lang="en-IN" sz="1800" kern="1200" dirty="0">
                          <a:solidFill>
                            <a:schemeClr val="dk1"/>
                          </a:solidFill>
                          <a:effectLst/>
                          <a:latin typeface="Times New Roman" panose="02020603050405020304" pitchFamily="18" charset="0"/>
                          <a:ea typeface="+mn-ea"/>
                          <a:cs typeface="Times New Roman" panose="02020603050405020304" pitchFamily="18" charset="0"/>
                        </a:rPr>
                        <a:t> measurement of a solid active pharmaceutical ingredient as an aid to identifying key process parameters</a:t>
                      </a:r>
                      <a:endParaRPr lang="en-IN" dirty="0">
                        <a:latin typeface="Times New Roman" panose="02020603050405020304" pitchFamily="18" charset="0"/>
                        <a:cs typeface="Times New Roman" panose="02020603050405020304" pitchFamily="18" charset="0"/>
                      </a:endParaRPr>
                    </a:p>
                  </a:txBody>
                  <a:tcPr/>
                </a:tc>
                <a:tc>
                  <a:txBody>
                    <a:bodyPr/>
                    <a:lstStyle/>
                    <a:p>
                      <a:endParaRPr lang="en-IN" sz="1800" kern="1200" dirty="0">
                        <a:solidFill>
                          <a:schemeClr val="dk1"/>
                        </a:solidFill>
                        <a:effectLst/>
                        <a:latin typeface="Times New Roman" panose="02020603050405020304" pitchFamily="18" charset="0"/>
                        <a:ea typeface="+mn-ea"/>
                        <a:cs typeface="Times New Roman" panose="02020603050405020304" pitchFamily="18" charset="0"/>
                      </a:endParaRPr>
                    </a:p>
                    <a:p>
                      <a:endParaRPr lang="en-IN" sz="1800" kern="1200" dirty="0">
                        <a:solidFill>
                          <a:schemeClr val="dk1"/>
                        </a:solidFill>
                        <a:effectLst/>
                        <a:latin typeface="Times New Roman" panose="02020603050405020304" pitchFamily="18" charset="0"/>
                        <a:ea typeface="+mn-ea"/>
                        <a:cs typeface="Times New Roman" panose="02020603050405020304" pitchFamily="18" charset="0"/>
                      </a:endParaRPr>
                    </a:p>
                    <a:p>
                      <a:r>
                        <a:rPr lang="en-IN" sz="1800" kern="1200" dirty="0">
                          <a:solidFill>
                            <a:schemeClr val="dk1"/>
                          </a:solidFill>
                          <a:effectLst/>
                          <a:latin typeface="Times New Roman" panose="02020603050405020304" pitchFamily="18" charset="0"/>
                          <a:ea typeface="+mn-ea"/>
                          <a:cs typeface="Times New Roman" panose="02020603050405020304" pitchFamily="18" charset="0"/>
                        </a:rPr>
                        <a:t>   P. D. Oram and J. </a:t>
                      </a:r>
                      <a:r>
                        <a:rPr lang="en-IN" sz="1800" kern="1200" dirty="0" err="1">
                          <a:solidFill>
                            <a:schemeClr val="dk1"/>
                          </a:solidFill>
                          <a:effectLst/>
                          <a:latin typeface="Times New Roman" panose="02020603050405020304" pitchFamily="18" charset="0"/>
                          <a:ea typeface="+mn-ea"/>
                          <a:cs typeface="Times New Roman" panose="02020603050405020304" pitchFamily="18" charset="0"/>
                        </a:rPr>
                        <a:t>Strine</a:t>
                      </a:r>
                      <a:r>
                        <a:rPr lang="en-IN" sz="1800" kern="1200" dirty="0">
                          <a:solidFill>
                            <a:schemeClr val="dk1"/>
                          </a:solidFill>
                          <a:effectLst/>
                          <a:latin typeface="Times New Roman" panose="02020603050405020304" pitchFamily="18" charset="0"/>
                          <a:ea typeface="+mn-ea"/>
                          <a:cs typeface="Times New Roman" panose="02020603050405020304" pitchFamily="18" charset="0"/>
                        </a:rPr>
                        <a:t>, </a:t>
                      </a:r>
                      <a:endParaRPr lang="en-IN"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Used real-time color monitoring to ensure process consistency in drug manufacturing.</a:t>
                      </a:r>
                      <a:endParaRPr lang="en-IN"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Affected by lighting conditions and surface texture of the sample.</a:t>
                      </a:r>
                      <a:endParaRPr lang="en-IN"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960129470"/>
                  </a:ext>
                </a:extLst>
              </a:tr>
              <a:tr h="859871">
                <a:tc>
                  <a:txBody>
                    <a:bodyPr/>
                    <a:lstStyle/>
                    <a:p>
                      <a:r>
                        <a:rPr lang="en-IN" sz="1800" kern="1200" dirty="0">
                          <a:solidFill>
                            <a:schemeClr val="dk1"/>
                          </a:solidFill>
                          <a:effectLst/>
                          <a:latin typeface="Times New Roman" panose="02020603050405020304" pitchFamily="18" charset="0"/>
                          <a:ea typeface="+mn-ea"/>
                          <a:cs typeface="Times New Roman" panose="02020603050405020304" pitchFamily="18" charset="0"/>
                        </a:rPr>
                        <a:t>High- speed industrial </a:t>
                      </a:r>
                      <a:r>
                        <a:rPr lang="en-IN" sz="1800" kern="1200" dirty="0" err="1">
                          <a:solidFill>
                            <a:schemeClr val="dk1"/>
                          </a:solidFill>
                          <a:effectLst/>
                          <a:latin typeface="Times New Roman" panose="02020603050405020304" pitchFamily="18" charset="0"/>
                          <a:ea typeface="+mn-ea"/>
                          <a:cs typeface="Times New Roman" panose="02020603050405020304" pitchFamily="18" charset="0"/>
                        </a:rPr>
                        <a:t>color</a:t>
                      </a:r>
                      <a:r>
                        <a:rPr lang="en-IN" sz="1800" kern="1200" dirty="0">
                          <a:solidFill>
                            <a:schemeClr val="dk1"/>
                          </a:solidFill>
                          <a:effectLst/>
                          <a:latin typeface="Times New Roman" panose="02020603050405020304" pitchFamily="18" charset="0"/>
                          <a:ea typeface="+mn-ea"/>
                          <a:cs typeface="Times New Roman" panose="02020603050405020304" pitchFamily="18" charset="0"/>
                        </a:rPr>
                        <a:t> and position sensors</a:t>
                      </a:r>
                      <a:endParaRPr lang="en-IN" dirty="0">
                        <a:latin typeface="Times New Roman" panose="02020603050405020304" pitchFamily="18" charset="0"/>
                        <a:cs typeface="Times New Roman" panose="02020603050405020304" pitchFamily="18" charset="0"/>
                      </a:endParaRPr>
                    </a:p>
                  </a:txBody>
                  <a:tcPr/>
                </a:tc>
                <a:tc>
                  <a:txBody>
                    <a:bodyPr/>
                    <a:lstStyle/>
                    <a:p>
                      <a:r>
                        <a:rPr lang="en-IN" sz="1800" kern="1200" dirty="0">
                          <a:solidFill>
                            <a:schemeClr val="dk1"/>
                          </a:solidFill>
                          <a:effectLst/>
                          <a:latin typeface="Times New Roman" panose="02020603050405020304" pitchFamily="18" charset="0"/>
                          <a:ea typeface="+mn-ea"/>
                          <a:cs typeface="Times New Roman" panose="02020603050405020304" pitchFamily="18" charset="0"/>
                        </a:rPr>
                        <a:t>M. Frank, Nobert Kaiser, Wolfgang Buss, Ramona Eberhardt, </a:t>
                      </a:r>
                      <a:endParaRPr lang="en-IN"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Implemented fast color sensors with integrated position tracking in automation lines.</a:t>
                      </a:r>
                      <a:endParaRPr lang="en-IN"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High cost and complexity in calibration for different materials</a:t>
                      </a:r>
                      <a:endParaRPr lang="en-IN"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4073062227"/>
                  </a:ext>
                </a:extLst>
              </a:tr>
              <a:tr h="859871">
                <a:tc>
                  <a:txBody>
                    <a:bodyPr/>
                    <a:lstStyle/>
                    <a:p>
                      <a:r>
                        <a:rPr lang="en-IN" sz="1800" kern="1200" dirty="0">
                          <a:solidFill>
                            <a:schemeClr val="dk1"/>
                          </a:solidFill>
                          <a:effectLst/>
                          <a:latin typeface="Times New Roman" panose="02020603050405020304" pitchFamily="18" charset="0"/>
                          <a:ea typeface="+mn-ea"/>
                          <a:cs typeface="Times New Roman" panose="02020603050405020304" pitchFamily="18" charset="0"/>
                        </a:rPr>
                        <a:t>E. J. Cadieux Jr,</a:t>
                      </a:r>
                      <a:endParaRPr lang="en-IN" dirty="0">
                        <a:latin typeface="Times New Roman" panose="02020603050405020304" pitchFamily="18" charset="0"/>
                        <a:cs typeface="Times New Roman" panose="02020603050405020304" pitchFamily="18" charset="0"/>
                      </a:endParaRPr>
                    </a:p>
                  </a:txBody>
                  <a:tcPr/>
                </a:tc>
                <a:tc>
                  <a:txBody>
                    <a:bodyPr/>
                    <a:lstStyle/>
                    <a:p>
                      <a:r>
                        <a:rPr lang="en-IN" sz="1800" kern="1200" dirty="0">
                          <a:solidFill>
                            <a:schemeClr val="dk1"/>
                          </a:solidFill>
                          <a:effectLst/>
                          <a:latin typeface="Times New Roman" panose="02020603050405020304" pitchFamily="18" charset="0"/>
                          <a:ea typeface="+mn-ea"/>
                          <a:cs typeface="Times New Roman" panose="02020603050405020304" pitchFamily="18" charset="0"/>
                        </a:rPr>
                        <a:t>System and method for visually inspecting a cigarette packaging process</a:t>
                      </a:r>
                      <a:endParaRPr lang="en-IN"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Employed vision systems to detect color and print defects in cigarette packaging.</a:t>
                      </a:r>
                      <a:endParaRPr lang="en-IN"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Limited performance under poor lighting or high-speed operations.</a:t>
                      </a:r>
                      <a:endParaRPr lang="en-IN"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513527553"/>
                  </a:ext>
                </a:extLst>
              </a:tr>
            </a:tbl>
          </a:graphicData>
        </a:graphic>
      </p:graphicFrame>
    </p:spTree>
    <p:extLst>
      <p:ext uri="{BB962C8B-B14F-4D97-AF65-F5344CB8AC3E}">
        <p14:creationId xmlns:p14="http://schemas.microsoft.com/office/powerpoint/2010/main" val="179209260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D8A4FF2F-53F5-4223-A123-C260E406A18E}"/>
              </a:ext>
            </a:extLst>
          </p:cNvPr>
          <p:cNvGraphicFramePr>
            <a:graphicFrameLocks noGrp="1"/>
          </p:cNvGraphicFramePr>
          <p:nvPr>
            <p:extLst>
              <p:ext uri="{D42A27DB-BD31-4B8C-83A1-F6EECF244321}">
                <p14:modId xmlns:p14="http://schemas.microsoft.com/office/powerpoint/2010/main" val="160828941"/>
              </p:ext>
            </p:extLst>
          </p:nvPr>
        </p:nvGraphicFramePr>
        <p:xfrm>
          <a:off x="536895" y="72312"/>
          <a:ext cx="10838575" cy="6785688"/>
        </p:xfrm>
        <a:graphic>
          <a:graphicData uri="http://schemas.openxmlformats.org/drawingml/2006/table">
            <a:tbl>
              <a:tblPr firstRow="1" bandRow="1">
                <a:tableStyleId>{5C22544A-7EE6-4342-B048-85BDC9FD1C3A}</a:tableStyleId>
              </a:tblPr>
              <a:tblGrid>
                <a:gridCol w="2733694">
                  <a:extLst>
                    <a:ext uri="{9D8B030D-6E8A-4147-A177-3AD203B41FA5}">
                      <a16:colId xmlns:a16="http://schemas.microsoft.com/office/drawing/2014/main" val="1748577612"/>
                    </a:ext>
                  </a:extLst>
                </a:gridCol>
                <a:gridCol w="2701627">
                  <a:extLst>
                    <a:ext uri="{9D8B030D-6E8A-4147-A177-3AD203B41FA5}">
                      <a16:colId xmlns:a16="http://schemas.microsoft.com/office/drawing/2014/main" val="756739813"/>
                    </a:ext>
                  </a:extLst>
                </a:gridCol>
                <a:gridCol w="2701627">
                  <a:extLst>
                    <a:ext uri="{9D8B030D-6E8A-4147-A177-3AD203B41FA5}">
                      <a16:colId xmlns:a16="http://schemas.microsoft.com/office/drawing/2014/main" val="2630045543"/>
                    </a:ext>
                  </a:extLst>
                </a:gridCol>
                <a:gridCol w="2701627">
                  <a:extLst>
                    <a:ext uri="{9D8B030D-6E8A-4147-A177-3AD203B41FA5}">
                      <a16:colId xmlns:a16="http://schemas.microsoft.com/office/drawing/2014/main" val="2157669039"/>
                    </a:ext>
                  </a:extLst>
                </a:gridCol>
              </a:tblGrid>
              <a:tr h="100057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2000" dirty="0">
                        <a:solidFill>
                          <a:schemeClr val="tx1"/>
                        </a:solidFill>
                        <a:latin typeface="Times New Roman" panose="02020603050405020304" pitchFamily="18" charset="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2000" dirty="0">
                          <a:solidFill>
                            <a:schemeClr val="tx1"/>
                          </a:solidFill>
                          <a:latin typeface="Times New Roman" panose="02020603050405020304" pitchFamily="18" charset="0"/>
                          <a:cs typeface="Times New Roman" panose="02020603050405020304" pitchFamily="18" charset="0"/>
                        </a:rPr>
                        <a:t>       PAPER TITLE</a:t>
                      </a:r>
                    </a:p>
                    <a:p>
                      <a:endParaRPr lang="en-IN" dirty="0"/>
                    </a:p>
                  </a:txBody>
                  <a:tcPr/>
                </a:tc>
                <a:tc>
                  <a:txBody>
                    <a:bodyPr/>
                    <a:lstStyle/>
                    <a:p>
                      <a:endParaRPr lang="en-US" sz="2000" dirty="0">
                        <a:solidFill>
                          <a:schemeClr val="tx1"/>
                        </a:solidFill>
                        <a:latin typeface="Times New Roman" panose="02020603050405020304" pitchFamily="18" charset="0"/>
                        <a:cs typeface="Times New Roman" panose="02020603050405020304" pitchFamily="18" charset="0"/>
                      </a:endParaRPr>
                    </a:p>
                    <a:p>
                      <a:r>
                        <a:rPr lang="en-US" sz="2000" dirty="0">
                          <a:solidFill>
                            <a:schemeClr val="tx1"/>
                          </a:solidFill>
                          <a:latin typeface="Times New Roman" panose="02020603050405020304" pitchFamily="18" charset="0"/>
                          <a:cs typeface="Times New Roman" panose="02020603050405020304" pitchFamily="18" charset="0"/>
                        </a:rPr>
                        <a:t>         AUTHORS</a:t>
                      </a:r>
                      <a:endParaRPr lang="en-IN" sz="20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2000" dirty="0">
                        <a:solidFill>
                          <a:schemeClr val="tx1"/>
                        </a:solidFill>
                        <a:latin typeface="Times New Roman" panose="02020603050405020304" pitchFamily="18" charset="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2000" dirty="0">
                          <a:solidFill>
                            <a:schemeClr val="tx1"/>
                          </a:solidFill>
                          <a:latin typeface="Times New Roman" panose="02020603050405020304" pitchFamily="18" charset="0"/>
                          <a:cs typeface="Times New Roman" panose="02020603050405020304" pitchFamily="18" charset="0"/>
                        </a:rPr>
                        <a:t>    METHODOLOGY</a:t>
                      </a:r>
                      <a:endParaRPr lang="en-IN" sz="2000" dirty="0">
                        <a:solidFill>
                          <a:schemeClr val="tx1"/>
                        </a:solidFill>
                        <a:latin typeface="Times New Roman" panose="02020603050405020304" pitchFamily="18" charset="0"/>
                        <a:cs typeface="Times New Roman" panose="02020603050405020304" pitchFamily="18" charset="0"/>
                      </a:endParaRPr>
                    </a:p>
                    <a:p>
                      <a:endParaRPr lang="en-IN" dirty="0"/>
                    </a:p>
                  </a:txBody>
                  <a:tcPr/>
                </a:tc>
                <a:tc>
                  <a:txBody>
                    <a:bodyPr/>
                    <a:lstStyle/>
                    <a:p>
                      <a:endParaRPr lang="en-US" sz="2000" dirty="0">
                        <a:solidFill>
                          <a:schemeClr val="tx1"/>
                        </a:solidFill>
                        <a:latin typeface="Times New Roman" panose="02020603050405020304" pitchFamily="18" charset="0"/>
                        <a:cs typeface="Times New Roman" panose="02020603050405020304" pitchFamily="18" charset="0"/>
                      </a:endParaRPr>
                    </a:p>
                    <a:p>
                      <a:r>
                        <a:rPr lang="en-US" sz="2000" dirty="0">
                          <a:solidFill>
                            <a:schemeClr val="tx1"/>
                          </a:solidFill>
                          <a:latin typeface="Times New Roman" panose="02020603050405020304" pitchFamily="18" charset="0"/>
                          <a:cs typeface="Times New Roman" panose="02020603050405020304" pitchFamily="18" charset="0"/>
                        </a:rPr>
                        <a:t>       DRAWBACKS</a:t>
                      </a:r>
                      <a:endParaRPr lang="en-IN" sz="2000" dirty="0"/>
                    </a:p>
                  </a:txBody>
                  <a:tcPr/>
                </a:tc>
                <a:extLst>
                  <a:ext uri="{0D108BD9-81ED-4DB2-BD59-A6C34878D82A}">
                    <a16:rowId xmlns:a16="http://schemas.microsoft.com/office/drawing/2014/main" val="598786549"/>
                  </a:ext>
                </a:extLst>
              </a:tr>
              <a:tr h="1219451">
                <a:tc>
                  <a:txBody>
                    <a:bodyPr/>
                    <a:lstStyle/>
                    <a:p>
                      <a:r>
                        <a:rPr lang="en-IN" sz="1800" kern="1200" dirty="0">
                          <a:solidFill>
                            <a:schemeClr val="dk1"/>
                          </a:solidFill>
                          <a:effectLst/>
                          <a:latin typeface="Times New Roman" panose="02020603050405020304" pitchFamily="18" charset="0"/>
                          <a:ea typeface="+mn-ea"/>
                          <a:cs typeface="Times New Roman" panose="02020603050405020304" pitchFamily="18" charset="0"/>
                        </a:rPr>
                        <a:t>Application of </a:t>
                      </a:r>
                      <a:r>
                        <a:rPr lang="en-IN" sz="1800" kern="1200" dirty="0" err="1">
                          <a:solidFill>
                            <a:schemeClr val="dk1"/>
                          </a:solidFill>
                          <a:effectLst/>
                          <a:latin typeface="Times New Roman" panose="02020603050405020304" pitchFamily="18" charset="0"/>
                          <a:ea typeface="+mn-ea"/>
                          <a:cs typeface="Times New Roman" panose="02020603050405020304" pitchFamily="18" charset="0"/>
                        </a:rPr>
                        <a:t>colors</a:t>
                      </a:r>
                      <a:r>
                        <a:rPr lang="en-IN" sz="1800" kern="1200" dirty="0">
                          <a:solidFill>
                            <a:schemeClr val="dk1"/>
                          </a:solidFill>
                          <a:effectLst/>
                          <a:latin typeface="Times New Roman" panose="02020603050405020304" pitchFamily="18" charset="0"/>
                          <a:ea typeface="+mn-ea"/>
                          <a:cs typeface="Times New Roman" panose="02020603050405020304" pitchFamily="18" charset="0"/>
                        </a:rPr>
                        <a:t> sensor in an automated system</a:t>
                      </a:r>
                    </a:p>
                  </a:txBody>
                  <a:tcPr/>
                </a:tc>
                <a:tc>
                  <a:txBody>
                    <a:bodyPr/>
                    <a:lstStyle/>
                    <a:p>
                      <a:r>
                        <a:rPr lang="en-IN" sz="1800" kern="1200" dirty="0" err="1">
                          <a:solidFill>
                            <a:schemeClr val="dk1"/>
                          </a:solidFill>
                          <a:effectLst/>
                          <a:latin typeface="Times New Roman" panose="02020603050405020304" pitchFamily="18" charset="0"/>
                          <a:ea typeface="+mn-ea"/>
                          <a:cs typeface="Times New Roman" panose="02020603050405020304" pitchFamily="18" charset="0"/>
                        </a:rPr>
                        <a:t>Norfazlinda</a:t>
                      </a:r>
                      <a:r>
                        <a:rPr lang="en-IN" sz="1800" kern="1200" dirty="0">
                          <a:solidFill>
                            <a:schemeClr val="dk1"/>
                          </a:solidFill>
                          <a:effectLst/>
                          <a:latin typeface="Times New Roman" panose="02020603050405020304" pitchFamily="18" charset="0"/>
                          <a:ea typeface="+mn-ea"/>
                          <a:cs typeface="Times New Roman" panose="02020603050405020304" pitchFamily="18" charset="0"/>
                        </a:rPr>
                        <a:t> Binti Daud</a:t>
                      </a:r>
                      <a:endParaRPr lang="en-IN"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Used color sensors in an automation system to classify products based on surface color.</a:t>
                      </a:r>
                      <a:endParaRPr lang="en-IN"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Limited accuracy under variable lighting conditions.</a:t>
                      </a:r>
                      <a:endParaRPr lang="en-IN"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514506308"/>
                  </a:ext>
                </a:extLst>
              </a:tr>
              <a:tr h="1141813">
                <a:tc>
                  <a:txBody>
                    <a:bodyPr/>
                    <a:lstStyle/>
                    <a:p>
                      <a:r>
                        <a:rPr lang="en-IN" sz="1800" kern="1200" dirty="0">
                          <a:solidFill>
                            <a:schemeClr val="dk1"/>
                          </a:solidFill>
                          <a:effectLst/>
                          <a:latin typeface="Times New Roman" panose="02020603050405020304" pitchFamily="18" charset="0"/>
                          <a:ea typeface="+mn-ea"/>
                          <a:cs typeface="Times New Roman" panose="02020603050405020304" pitchFamily="18" charset="0"/>
                        </a:rPr>
                        <a:t>Automated </a:t>
                      </a:r>
                      <a:r>
                        <a:rPr lang="en-IN" sz="1800" kern="1200" dirty="0" err="1">
                          <a:solidFill>
                            <a:schemeClr val="dk1"/>
                          </a:solidFill>
                          <a:effectLst/>
                          <a:latin typeface="Times New Roman" panose="02020603050405020304" pitchFamily="18" charset="0"/>
                          <a:ea typeface="+mn-ea"/>
                          <a:cs typeface="Times New Roman" panose="02020603050405020304" pitchFamily="18" charset="0"/>
                        </a:rPr>
                        <a:t>Color</a:t>
                      </a:r>
                      <a:r>
                        <a:rPr lang="en-IN" sz="1800" kern="1200" dirty="0">
                          <a:solidFill>
                            <a:schemeClr val="dk1"/>
                          </a:solidFill>
                          <a:effectLst/>
                          <a:latin typeface="Times New Roman" panose="02020603050405020304" pitchFamily="18" charset="0"/>
                          <a:ea typeface="+mn-ea"/>
                          <a:cs typeface="Times New Roman" panose="02020603050405020304" pitchFamily="18" charset="0"/>
                        </a:rPr>
                        <a:t>-Sorting uses optical technology</a:t>
                      </a:r>
                      <a:endParaRPr lang="en-IN" dirty="0">
                        <a:latin typeface="Times New Roman" panose="02020603050405020304" pitchFamily="18" charset="0"/>
                        <a:cs typeface="Times New Roman" panose="02020603050405020304" pitchFamily="18" charset="0"/>
                      </a:endParaRPr>
                    </a:p>
                  </a:txBody>
                  <a:tcPr/>
                </a:tc>
                <a:tc>
                  <a:txBody>
                    <a:bodyPr/>
                    <a:lstStyle/>
                    <a:p>
                      <a:r>
                        <a:rPr lang="en-IN" sz="1800" kern="1200" dirty="0">
                          <a:solidFill>
                            <a:schemeClr val="dk1"/>
                          </a:solidFill>
                          <a:effectLst/>
                          <a:latin typeface="Times New Roman" panose="02020603050405020304" pitchFamily="18" charset="0"/>
                          <a:ea typeface="+mn-ea"/>
                          <a:cs typeface="Times New Roman" panose="02020603050405020304" pitchFamily="18" charset="0"/>
                        </a:rPr>
                        <a:t>Bickman, Josh, </a:t>
                      </a:r>
                      <a:endParaRPr lang="en-IN"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Employed optical sensors and microcontrollers for real-time color-based sorting</a:t>
                      </a:r>
                      <a:endParaRPr lang="en-IN"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May misclassify closely related colors or reflective materials.</a:t>
                      </a:r>
                      <a:endParaRPr lang="en-IN"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698952290"/>
                  </a:ext>
                </a:extLst>
              </a:tr>
              <a:tr h="1500864">
                <a:tc>
                  <a:txBody>
                    <a:bodyPr/>
                    <a:lstStyle/>
                    <a:p>
                      <a:r>
                        <a:rPr lang="en-IN" sz="1800" kern="1200" dirty="0">
                          <a:solidFill>
                            <a:schemeClr val="dk1"/>
                          </a:solidFill>
                          <a:effectLst/>
                          <a:latin typeface="Times New Roman" panose="02020603050405020304" pitchFamily="18" charset="0"/>
                          <a:ea typeface="+mn-ea"/>
                          <a:cs typeface="Times New Roman" panose="02020603050405020304" pitchFamily="18" charset="0"/>
                        </a:rPr>
                        <a:t>Visual processing and classification of items </a:t>
                      </a:r>
                    </a:p>
                    <a:p>
                      <a:r>
                        <a:rPr lang="en-IN" sz="1800" kern="1200" dirty="0">
                          <a:solidFill>
                            <a:schemeClr val="dk1"/>
                          </a:solidFill>
                          <a:effectLst/>
                          <a:latin typeface="Times New Roman" panose="02020603050405020304" pitchFamily="18" charset="0"/>
                          <a:ea typeface="+mn-ea"/>
                          <a:cs typeface="Times New Roman" panose="02020603050405020304" pitchFamily="18" charset="0"/>
                        </a:rPr>
                        <a:t>on a moving conveyor: a selective perception approach</a:t>
                      </a:r>
                      <a:endParaRPr lang="en-IN" dirty="0">
                        <a:latin typeface="Times New Roman" panose="02020603050405020304" pitchFamily="18" charset="0"/>
                        <a:cs typeface="Times New Roman" panose="02020603050405020304" pitchFamily="18" charset="0"/>
                      </a:endParaRPr>
                    </a:p>
                  </a:txBody>
                  <a:tcPr/>
                </a:tc>
                <a:tc>
                  <a:txBody>
                    <a:bodyPr/>
                    <a:lstStyle/>
                    <a:p>
                      <a:endParaRPr lang="en-IN" sz="1800" kern="1200" dirty="0">
                        <a:solidFill>
                          <a:schemeClr val="dk1"/>
                        </a:solidFill>
                        <a:effectLst/>
                        <a:latin typeface="Times New Roman" panose="02020603050405020304" pitchFamily="18" charset="0"/>
                        <a:ea typeface="+mn-ea"/>
                        <a:cs typeface="Times New Roman" panose="02020603050405020304" pitchFamily="18" charset="0"/>
                      </a:endParaRPr>
                    </a:p>
                    <a:p>
                      <a:endParaRPr lang="en-IN" sz="1800" kern="1200" dirty="0">
                        <a:solidFill>
                          <a:schemeClr val="dk1"/>
                        </a:solidFill>
                        <a:effectLst/>
                        <a:latin typeface="Times New Roman" panose="02020603050405020304" pitchFamily="18" charset="0"/>
                        <a:ea typeface="+mn-ea"/>
                        <a:cs typeface="Times New Roman" panose="02020603050405020304" pitchFamily="18" charset="0"/>
                      </a:endParaRPr>
                    </a:p>
                    <a:p>
                      <a:r>
                        <a:rPr lang="en-IN" sz="1800" kern="1200" dirty="0" err="1">
                          <a:solidFill>
                            <a:schemeClr val="dk1"/>
                          </a:solidFill>
                          <a:effectLst/>
                          <a:latin typeface="Times New Roman" panose="02020603050405020304" pitchFamily="18" charset="0"/>
                          <a:ea typeface="+mn-ea"/>
                          <a:cs typeface="Times New Roman" panose="02020603050405020304" pitchFamily="18" charset="0"/>
                        </a:rPr>
                        <a:t>Bozma</a:t>
                      </a:r>
                      <a:r>
                        <a:rPr lang="en-IN" sz="1800" kern="1200" dirty="0">
                          <a:solidFill>
                            <a:schemeClr val="dk1"/>
                          </a:solidFill>
                          <a:effectLst/>
                          <a:latin typeface="Times New Roman" panose="02020603050405020304" pitchFamily="18" charset="0"/>
                          <a:ea typeface="+mn-ea"/>
                          <a:cs typeface="Times New Roman" panose="02020603050405020304" pitchFamily="18" charset="0"/>
                        </a:rPr>
                        <a:t> and </a:t>
                      </a:r>
                      <a:r>
                        <a:rPr lang="en-IN" sz="1800" kern="1200" dirty="0" err="1">
                          <a:solidFill>
                            <a:schemeClr val="dk1"/>
                          </a:solidFill>
                          <a:effectLst/>
                          <a:latin typeface="Times New Roman" panose="02020603050405020304" pitchFamily="18" charset="0"/>
                          <a:ea typeface="+mn-ea"/>
                          <a:cs typeface="Times New Roman" panose="02020603050405020304" pitchFamily="18" charset="0"/>
                        </a:rPr>
                        <a:t>Yal-cin</a:t>
                      </a:r>
                      <a:endParaRPr lang="en-IN"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Used visual algorithms for real-time classification of objects on a conveyor.</a:t>
                      </a:r>
                      <a:endParaRPr lang="en-IN"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Complex algorithms require high processing power and calibration.</a:t>
                      </a:r>
                      <a:endParaRPr lang="en-IN"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542788536"/>
                  </a:ext>
                </a:extLst>
              </a:tr>
              <a:tr h="938039">
                <a:tc>
                  <a:txBody>
                    <a:bodyPr/>
                    <a:lstStyle/>
                    <a:p>
                      <a:r>
                        <a:rPr lang="en-IN" sz="1800" kern="1200" dirty="0">
                          <a:solidFill>
                            <a:schemeClr val="dk1"/>
                          </a:solidFill>
                          <a:effectLst/>
                          <a:latin typeface="Times New Roman" panose="02020603050405020304" pitchFamily="18" charset="0"/>
                          <a:ea typeface="+mn-ea"/>
                          <a:cs typeface="Times New Roman" panose="02020603050405020304" pitchFamily="18" charset="0"/>
                        </a:rPr>
                        <a:t>Ceramic tile inspection for </a:t>
                      </a:r>
                      <a:r>
                        <a:rPr lang="en-IN" sz="1800" kern="1200" dirty="0" err="1">
                          <a:solidFill>
                            <a:schemeClr val="dk1"/>
                          </a:solidFill>
                          <a:effectLst/>
                          <a:latin typeface="Times New Roman" panose="02020603050405020304" pitchFamily="18" charset="0"/>
                          <a:ea typeface="+mn-ea"/>
                          <a:cs typeface="Times New Roman" panose="02020603050405020304" pitchFamily="18" charset="0"/>
                        </a:rPr>
                        <a:t>color</a:t>
                      </a:r>
                      <a:r>
                        <a:rPr lang="en-IN" sz="1800" kern="1200" dirty="0">
                          <a:solidFill>
                            <a:schemeClr val="dk1"/>
                          </a:solidFill>
                          <a:effectLst/>
                          <a:latin typeface="Times New Roman" panose="02020603050405020304" pitchFamily="18" charset="0"/>
                          <a:ea typeface="+mn-ea"/>
                          <a:cs typeface="Times New Roman" panose="02020603050405020304" pitchFamily="18" charset="0"/>
                        </a:rPr>
                        <a:t> and structural </a:t>
                      </a:r>
                      <a:r>
                        <a:rPr lang="en-IN" sz="1800" kern="1200" dirty="0" err="1">
                          <a:solidFill>
                            <a:schemeClr val="dk1"/>
                          </a:solidFill>
                          <a:effectLst/>
                          <a:latin typeface="Times New Roman" panose="02020603050405020304" pitchFamily="18" charset="0"/>
                          <a:ea typeface="+mn-ea"/>
                          <a:cs typeface="Times New Roman" panose="02020603050405020304" pitchFamily="18" charset="0"/>
                        </a:rPr>
                        <a:t>deffects</a:t>
                      </a:r>
                      <a:endParaRPr lang="en-IN" dirty="0">
                        <a:latin typeface="Times New Roman" panose="02020603050405020304" pitchFamily="18" charset="0"/>
                        <a:cs typeface="Times New Roman" panose="02020603050405020304" pitchFamily="18" charset="0"/>
                      </a:endParaRPr>
                    </a:p>
                  </a:txBody>
                  <a:tcPr/>
                </a:tc>
                <a:tc>
                  <a:txBody>
                    <a:bodyPr/>
                    <a:lstStyle/>
                    <a:p>
                      <a:r>
                        <a:rPr lang="en-IN" sz="1800" kern="1200" dirty="0">
                          <a:solidFill>
                            <a:schemeClr val="dk1"/>
                          </a:solidFill>
                          <a:effectLst/>
                          <a:latin typeface="Times New Roman" panose="02020603050405020304" pitchFamily="18" charset="0"/>
                          <a:ea typeface="+mn-ea"/>
                          <a:cs typeface="Times New Roman" panose="02020603050405020304" pitchFamily="18" charset="0"/>
                        </a:rPr>
                        <a:t>C Boukouvalas, J Kittler, R Marik</a:t>
                      </a:r>
                      <a:endParaRPr lang="en-IN"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Used machine vision to inspect color consistency and detect defects in tiles.</a:t>
                      </a:r>
                      <a:endParaRPr lang="en-IN"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Sensitive to tile orientation and lighting variance.</a:t>
                      </a:r>
                      <a:endParaRPr lang="en-IN"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326193707"/>
                  </a:ext>
                </a:extLst>
              </a:tr>
              <a:tr h="938039">
                <a:tc>
                  <a:txBody>
                    <a:bodyPr/>
                    <a:lstStyle/>
                    <a:p>
                      <a:r>
                        <a:rPr lang="en-IN" sz="1800" kern="1200" dirty="0">
                          <a:solidFill>
                            <a:schemeClr val="dk1"/>
                          </a:solidFill>
                          <a:effectLst/>
                          <a:latin typeface="Times New Roman" panose="02020603050405020304" pitchFamily="18" charset="0"/>
                          <a:ea typeface="+mn-ea"/>
                          <a:cs typeface="Times New Roman" panose="02020603050405020304" pitchFamily="18" charset="0"/>
                        </a:rPr>
                        <a:t>Sorting of   items on a moving conveyor belt</a:t>
                      </a:r>
                      <a:endParaRPr lang="en-IN" dirty="0">
                        <a:latin typeface="Times New Roman" panose="02020603050405020304" pitchFamily="18" charset="0"/>
                        <a:cs typeface="Times New Roman" panose="02020603050405020304" pitchFamily="18" charset="0"/>
                      </a:endParaRPr>
                    </a:p>
                  </a:txBody>
                  <a:tcPr/>
                </a:tc>
                <a:tc>
                  <a:txBody>
                    <a:bodyPr/>
                    <a:lstStyle/>
                    <a:p>
                      <a:r>
                        <a:rPr lang="en-IN" sz="1800" kern="1200" dirty="0">
                          <a:solidFill>
                            <a:schemeClr val="dk1"/>
                          </a:solidFill>
                          <a:effectLst/>
                          <a:latin typeface="Times New Roman" panose="02020603050405020304" pitchFamily="18" charset="0"/>
                          <a:ea typeface="+mn-ea"/>
                          <a:cs typeface="Times New Roman" panose="02020603050405020304" pitchFamily="18" charset="0"/>
                        </a:rPr>
                        <a:t>R Mattone, G. </a:t>
                      </a:r>
                      <a:r>
                        <a:rPr lang="en-IN" sz="1800" kern="1200" dirty="0" err="1">
                          <a:solidFill>
                            <a:schemeClr val="dk1"/>
                          </a:solidFill>
                          <a:effectLst/>
                          <a:latin typeface="Times New Roman" panose="02020603050405020304" pitchFamily="18" charset="0"/>
                          <a:ea typeface="+mn-ea"/>
                          <a:cs typeface="Times New Roman" panose="02020603050405020304" pitchFamily="18" charset="0"/>
                        </a:rPr>
                        <a:t>Campagiorni</a:t>
                      </a:r>
                      <a:r>
                        <a:rPr lang="en-IN" sz="1800" kern="1200" dirty="0">
                          <a:solidFill>
                            <a:schemeClr val="dk1"/>
                          </a:solidFill>
                          <a:effectLst/>
                          <a:latin typeface="Times New Roman" panose="02020603050405020304" pitchFamily="18" charset="0"/>
                          <a:ea typeface="+mn-ea"/>
                          <a:cs typeface="Times New Roman" panose="02020603050405020304" pitchFamily="18" charset="0"/>
                        </a:rPr>
                        <a:t>, F. Galati</a:t>
                      </a:r>
                      <a:endParaRPr lang="en-IN"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Designed a vision-based system to detect and sort moving items by color.</a:t>
                      </a:r>
                      <a:endParaRPr lang="en-IN"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Motion blur and speed inconsistencies affect accuracy.</a:t>
                      </a:r>
                      <a:endParaRPr lang="en-IN"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63066578"/>
                  </a:ext>
                </a:extLst>
              </a:tr>
            </a:tbl>
          </a:graphicData>
        </a:graphic>
      </p:graphicFrame>
    </p:spTree>
    <p:extLst>
      <p:ext uri="{BB962C8B-B14F-4D97-AF65-F5344CB8AC3E}">
        <p14:creationId xmlns:p14="http://schemas.microsoft.com/office/powerpoint/2010/main" val="91889142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8D0C3D-F433-3285-C385-037CB15FBE83}"/>
              </a:ext>
            </a:extLst>
          </p:cNvPr>
          <p:cNvSpPr>
            <a:spLocks noGrp="1"/>
          </p:cNvSpPr>
          <p:nvPr>
            <p:ph type="title"/>
          </p:nvPr>
        </p:nvSpPr>
        <p:spPr/>
        <p:txBody>
          <a:bodyPr>
            <a:normAutofit/>
          </a:bodyPr>
          <a:lstStyle/>
          <a:p>
            <a:r>
              <a:rPr lang="en-US" sz="4800" dirty="0">
                <a:latin typeface="Times New Roman" panose="02020603050405020304" pitchFamily="18" charset="0"/>
                <a:cs typeface="Times New Roman" panose="02020603050405020304" pitchFamily="18" charset="0"/>
              </a:rPr>
              <a:t>METHODOLOGY</a:t>
            </a:r>
            <a:endParaRPr lang="en-IN" sz="4800" dirty="0">
              <a:latin typeface="Times New Roman" panose="02020603050405020304" pitchFamily="18" charset="0"/>
              <a:cs typeface="Times New Roman" panose="02020603050405020304" pitchFamily="18" charset="0"/>
            </a:endParaRPr>
          </a:p>
        </p:txBody>
      </p:sp>
      <p:sp>
        <p:nvSpPr>
          <p:cNvPr id="4" name="Rectangle 1">
            <a:extLst>
              <a:ext uri="{FF2B5EF4-FFF2-40B4-BE49-F238E27FC236}">
                <a16:creationId xmlns:a16="http://schemas.microsoft.com/office/drawing/2014/main" id="{F2B19B27-0962-0AA2-759A-508BAC559DBC}"/>
              </a:ext>
            </a:extLst>
          </p:cNvPr>
          <p:cNvSpPr>
            <a:spLocks noGrp="1" noChangeArrowheads="1"/>
          </p:cNvSpPr>
          <p:nvPr>
            <p:ph idx="1"/>
          </p:nvPr>
        </p:nvSpPr>
        <p:spPr bwMode="auto">
          <a:xfrm>
            <a:off x="554477" y="2155991"/>
            <a:ext cx="11716154" cy="31700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v"/>
              <a:tabLst/>
            </a:pP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Object Detection &amp; Color Sensing</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TCS3200 color sensor detects object color</a:t>
            </a: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dirty="0">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v"/>
              <a:tabLst/>
            </a:pP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Sorting Mechanism &amp; Display</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Displays detected color and activates the corresponding servo motor.</a:t>
            </a: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dirty="0">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v"/>
              <a:tabLst/>
            </a:pP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Conveyor Belt</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Conveyor moves objects</a:t>
            </a:r>
            <a:r>
              <a:rPr lang="en-US" altLang="en-US" dirty="0">
                <a:latin typeface="Times New Roman" panose="02020603050405020304" pitchFamily="18" charset="0"/>
                <a:cs typeface="Times New Roman" panose="02020603050405020304" pitchFamily="18" charset="0"/>
              </a:rPr>
              <a:t>.</a:t>
            </a: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dirty="0">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v"/>
              <a:tabLst/>
            </a:pP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Automated Sorting</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Servo moves object to the respective side (right or left) for sorting.</a:t>
            </a:r>
          </a:p>
        </p:txBody>
      </p:sp>
    </p:spTree>
    <p:extLst>
      <p:ext uri="{BB962C8B-B14F-4D97-AF65-F5344CB8AC3E}">
        <p14:creationId xmlns:p14="http://schemas.microsoft.com/office/powerpoint/2010/main" val="192064064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A9665C-FFC4-4B26-F3D2-5F74A79A8871}"/>
              </a:ext>
            </a:extLst>
          </p:cNvPr>
          <p:cNvSpPr>
            <a:spLocks noGrp="1"/>
          </p:cNvSpPr>
          <p:nvPr>
            <p:ph type="title"/>
          </p:nvPr>
        </p:nvSpPr>
        <p:spPr/>
        <p:txBody>
          <a:bodyPr>
            <a:normAutofit/>
          </a:bodyPr>
          <a:lstStyle/>
          <a:p>
            <a:r>
              <a:rPr lang="en-US" sz="4000" dirty="0">
                <a:latin typeface="Times New Roman" panose="02020603050405020304" pitchFamily="18" charset="0"/>
                <a:cs typeface="Times New Roman" panose="02020603050405020304" pitchFamily="18" charset="0"/>
              </a:rPr>
              <a:t>block DAIGRAM</a:t>
            </a:r>
            <a:endParaRPr lang="en-IN" sz="4000" dirty="0">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id="{E8A7B2D9-856F-BA52-456A-34BDE22C5CEE}"/>
              </a:ext>
            </a:extLst>
          </p:cNvPr>
          <p:cNvPicPr>
            <a:picLocks noChangeAspect="1"/>
          </p:cNvPicPr>
          <p:nvPr/>
        </p:nvPicPr>
        <p:blipFill>
          <a:blip r:embed="rId2"/>
          <a:stretch>
            <a:fillRect/>
          </a:stretch>
        </p:blipFill>
        <p:spPr>
          <a:xfrm>
            <a:off x="2558642" y="2021747"/>
            <a:ext cx="6904140" cy="3938845"/>
          </a:xfrm>
          <a:prstGeom prst="rect">
            <a:avLst/>
          </a:prstGeom>
        </p:spPr>
      </p:pic>
    </p:spTree>
    <p:extLst>
      <p:ext uri="{BB962C8B-B14F-4D97-AF65-F5344CB8AC3E}">
        <p14:creationId xmlns:p14="http://schemas.microsoft.com/office/powerpoint/2010/main" val="313833403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6472CF-7CCD-2613-B0A6-8E9196AD554F}"/>
              </a:ext>
            </a:extLst>
          </p:cNvPr>
          <p:cNvSpPr>
            <a:spLocks noGrp="1"/>
          </p:cNvSpPr>
          <p:nvPr>
            <p:ph type="title"/>
          </p:nvPr>
        </p:nvSpPr>
        <p:spPr/>
        <p:txBody>
          <a:bodyPr>
            <a:normAutofit/>
          </a:bodyPr>
          <a:lstStyle/>
          <a:p>
            <a:r>
              <a:rPr lang="en-US" sz="4000" dirty="0">
                <a:latin typeface="Times New Roman" panose="02020603050405020304" pitchFamily="18" charset="0"/>
                <a:cs typeface="Times New Roman" panose="02020603050405020304" pitchFamily="18" charset="0"/>
              </a:rPr>
              <a:t>COMPONENTS</a:t>
            </a:r>
            <a:endParaRPr lang="en-IN" sz="40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DD58B192-D001-C0A1-9C8A-5B8C0B469E9F}"/>
              </a:ext>
            </a:extLst>
          </p:cNvPr>
          <p:cNvSpPr>
            <a:spLocks noGrp="1"/>
          </p:cNvSpPr>
          <p:nvPr>
            <p:ph idx="1"/>
          </p:nvPr>
        </p:nvSpPr>
        <p:spPr/>
        <p:txBody>
          <a:bodyPr>
            <a:normAutofit/>
          </a:bodyPr>
          <a:lstStyle/>
          <a:p>
            <a:pPr>
              <a:buNone/>
            </a:pPr>
            <a:r>
              <a:rPr lang="en-US" b="1" u="sng" dirty="0"/>
              <a:t>HARDWARE COMPONENTS </a:t>
            </a:r>
          </a:p>
          <a:p>
            <a:pPr>
              <a:buNone/>
            </a:pPr>
            <a:r>
              <a:rPr lang="en-US" b="1" dirty="0"/>
              <a:t>1. Arduino UNO</a:t>
            </a:r>
            <a:endParaRPr lang="en-US" dirty="0"/>
          </a:p>
          <a:p>
            <a:pPr>
              <a:buNone/>
            </a:pPr>
            <a:r>
              <a:rPr lang="en-US" b="1" dirty="0"/>
              <a:t>2.TCS3200 Color Sensor</a:t>
            </a:r>
          </a:p>
          <a:p>
            <a:pPr>
              <a:buNone/>
            </a:pPr>
            <a:r>
              <a:rPr lang="en-US" b="1" dirty="0"/>
              <a:t>3.DC Motor</a:t>
            </a:r>
          </a:p>
        </p:txBody>
      </p:sp>
      <p:sp>
        <p:nvSpPr>
          <p:cNvPr id="4" name="TextBox 3">
            <a:extLst>
              <a:ext uri="{FF2B5EF4-FFF2-40B4-BE49-F238E27FC236}">
                <a16:creationId xmlns:a16="http://schemas.microsoft.com/office/drawing/2014/main" id="{38CDB734-6D0E-FB64-2BF8-F5A4CA57B263}"/>
              </a:ext>
            </a:extLst>
          </p:cNvPr>
          <p:cNvSpPr txBox="1"/>
          <p:nvPr/>
        </p:nvSpPr>
        <p:spPr>
          <a:xfrm>
            <a:off x="1451579" y="3989103"/>
            <a:ext cx="8751814" cy="400110"/>
          </a:xfrm>
          <a:prstGeom prst="rect">
            <a:avLst/>
          </a:prstGeom>
          <a:noFill/>
        </p:spPr>
        <p:txBody>
          <a:bodyPr wrap="square">
            <a:spAutoFit/>
          </a:bodyPr>
          <a:lstStyle/>
          <a:p>
            <a:pPr>
              <a:buNone/>
            </a:pPr>
            <a:r>
              <a:rPr lang="en-US" sz="2000" b="1" dirty="0"/>
              <a:t>4.Servo Motor (x2)</a:t>
            </a:r>
          </a:p>
        </p:txBody>
      </p:sp>
      <p:sp>
        <p:nvSpPr>
          <p:cNvPr id="7" name="TextBox 6">
            <a:extLst>
              <a:ext uri="{FF2B5EF4-FFF2-40B4-BE49-F238E27FC236}">
                <a16:creationId xmlns:a16="http://schemas.microsoft.com/office/drawing/2014/main" id="{5611694F-8D04-1F53-DE40-1CCCDF66D89D}"/>
              </a:ext>
            </a:extLst>
          </p:cNvPr>
          <p:cNvSpPr txBox="1"/>
          <p:nvPr/>
        </p:nvSpPr>
        <p:spPr>
          <a:xfrm>
            <a:off x="1451579" y="4551191"/>
            <a:ext cx="6102990" cy="646331"/>
          </a:xfrm>
          <a:prstGeom prst="rect">
            <a:avLst/>
          </a:prstGeom>
          <a:noFill/>
        </p:spPr>
        <p:txBody>
          <a:bodyPr wrap="square">
            <a:spAutoFit/>
          </a:bodyPr>
          <a:lstStyle/>
          <a:p>
            <a:pPr>
              <a:buNone/>
            </a:pPr>
            <a:r>
              <a:rPr lang="en-US" b="1" dirty="0"/>
              <a:t>5.16x2 LCD Display (with I2C module)</a:t>
            </a:r>
          </a:p>
          <a:p>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6801115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Box 10">
            <a:extLst>
              <a:ext uri="{FF2B5EF4-FFF2-40B4-BE49-F238E27FC236}">
                <a16:creationId xmlns:a16="http://schemas.microsoft.com/office/drawing/2014/main" id="{72F29947-82EE-FFD8-48DB-411C21A31511}"/>
              </a:ext>
            </a:extLst>
          </p:cNvPr>
          <p:cNvSpPr txBox="1"/>
          <p:nvPr/>
        </p:nvSpPr>
        <p:spPr>
          <a:xfrm>
            <a:off x="1073792" y="1694443"/>
            <a:ext cx="9513113" cy="2062103"/>
          </a:xfrm>
          <a:prstGeom prst="rect">
            <a:avLst/>
          </a:prstGeom>
          <a:noFill/>
        </p:spPr>
        <p:txBody>
          <a:bodyPr wrap="square">
            <a:spAutoFit/>
          </a:bodyPr>
          <a:lstStyle/>
          <a:p>
            <a:pPr>
              <a:buNone/>
            </a:pPr>
            <a:r>
              <a:rPr lang="en-US" sz="2000" b="1" u="sng" dirty="0">
                <a:latin typeface="Times New Roman" panose="02020603050405020304" pitchFamily="18" charset="0"/>
                <a:cs typeface="Times New Roman" panose="02020603050405020304" pitchFamily="18" charset="0"/>
              </a:rPr>
              <a:t>SOFTWARE  </a:t>
            </a:r>
          </a:p>
          <a:p>
            <a:pPr>
              <a:buNone/>
            </a:pPr>
            <a:endParaRPr lang="en-US" b="1" dirty="0"/>
          </a:p>
          <a:p>
            <a:pPr>
              <a:buNone/>
            </a:pPr>
            <a:r>
              <a:rPr lang="en-US" b="1" dirty="0"/>
              <a:t>Arduino IDE</a:t>
            </a:r>
          </a:p>
          <a:p>
            <a:r>
              <a:rPr lang="en-US" dirty="0"/>
              <a:t> </a:t>
            </a:r>
          </a:p>
          <a:p>
            <a:r>
              <a:rPr lang="en-US" dirty="0">
                <a:latin typeface="Times New Roman" panose="02020603050405020304" pitchFamily="18" charset="0"/>
                <a:cs typeface="Times New Roman" panose="02020603050405020304" pitchFamily="18" charset="0"/>
              </a:rPr>
              <a:t>The official software used to write, compile, and upload code to the Arduino Uno board. It supports </a:t>
            </a:r>
          </a:p>
          <a:p>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C/C++ based coding and provides an easy interface for microcontroller programming.</a:t>
            </a:r>
          </a:p>
        </p:txBody>
      </p:sp>
    </p:spTree>
    <p:extLst>
      <p:ext uri="{BB962C8B-B14F-4D97-AF65-F5344CB8AC3E}">
        <p14:creationId xmlns:p14="http://schemas.microsoft.com/office/powerpoint/2010/main" val="59038494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A4D4DA-BDEE-93FC-5FEA-76959663A88D}"/>
              </a:ext>
            </a:extLst>
          </p:cNvPr>
          <p:cNvSpPr>
            <a:spLocks noGrp="1"/>
          </p:cNvSpPr>
          <p:nvPr>
            <p:ph type="title"/>
          </p:nvPr>
        </p:nvSpPr>
        <p:spPr/>
        <p:txBody>
          <a:bodyPr>
            <a:normAutofit/>
          </a:bodyPr>
          <a:lstStyle/>
          <a:p>
            <a:r>
              <a:rPr lang="en-US" sz="4000" dirty="0">
                <a:latin typeface="Times New Roman" panose="02020603050405020304" pitchFamily="18" charset="0"/>
                <a:cs typeface="Times New Roman" panose="02020603050405020304" pitchFamily="18" charset="0"/>
              </a:rPr>
              <a:t>CRICUIT DIAGRAM</a:t>
            </a:r>
            <a:endParaRPr lang="en-IN" sz="4000" dirty="0">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id="{0CA22344-C094-E4AF-FC44-B181392185C0}"/>
              </a:ext>
            </a:extLst>
          </p:cNvPr>
          <p:cNvPicPr>
            <a:picLocks noChangeAspect="1"/>
          </p:cNvPicPr>
          <p:nvPr/>
        </p:nvPicPr>
        <p:blipFill>
          <a:blip r:embed="rId2"/>
          <a:stretch>
            <a:fillRect/>
          </a:stretch>
        </p:blipFill>
        <p:spPr>
          <a:xfrm>
            <a:off x="2684477" y="2034331"/>
            <a:ext cx="5847388" cy="3896736"/>
          </a:xfrm>
          <a:prstGeom prst="rect">
            <a:avLst/>
          </a:prstGeom>
        </p:spPr>
      </p:pic>
    </p:spTree>
    <p:extLst>
      <p:ext uri="{BB962C8B-B14F-4D97-AF65-F5344CB8AC3E}">
        <p14:creationId xmlns:p14="http://schemas.microsoft.com/office/powerpoint/2010/main" val="189664313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8A3604-7E4D-9A67-4925-EDCB3788279E}"/>
              </a:ext>
            </a:extLst>
          </p:cNvPr>
          <p:cNvSpPr>
            <a:spLocks noGrp="1"/>
          </p:cNvSpPr>
          <p:nvPr>
            <p:ph type="title"/>
          </p:nvPr>
        </p:nvSpPr>
        <p:spPr/>
        <p:txBody>
          <a:bodyPr/>
          <a:lstStyle/>
          <a:p>
            <a:r>
              <a:rPr lang="en-US" dirty="0"/>
              <a:t>OUTPUT </a:t>
            </a:r>
            <a:endParaRPr lang="en-IN" dirty="0"/>
          </a:p>
        </p:txBody>
      </p:sp>
      <p:pic>
        <p:nvPicPr>
          <p:cNvPr id="3" name="Picture 2">
            <a:extLst>
              <a:ext uri="{FF2B5EF4-FFF2-40B4-BE49-F238E27FC236}">
                <a16:creationId xmlns:a16="http://schemas.microsoft.com/office/drawing/2014/main" id="{87E9A78A-A83E-E136-5DED-4BA065EFC802}"/>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743200" y="2156774"/>
            <a:ext cx="6199464" cy="3299460"/>
          </a:xfrm>
          <a:prstGeom prst="rect">
            <a:avLst/>
          </a:prstGeom>
        </p:spPr>
      </p:pic>
      <p:sp>
        <p:nvSpPr>
          <p:cNvPr id="5" name="TextBox 4">
            <a:extLst>
              <a:ext uri="{FF2B5EF4-FFF2-40B4-BE49-F238E27FC236}">
                <a16:creationId xmlns:a16="http://schemas.microsoft.com/office/drawing/2014/main" id="{8BF4E88A-9D1A-CA47-B007-DD89D49B65A0}"/>
              </a:ext>
            </a:extLst>
          </p:cNvPr>
          <p:cNvSpPr txBox="1"/>
          <p:nvPr/>
        </p:nvSpPr>
        <p:spPr>
          <a:xfrm>
            <a:off x="2950828" y="5579012"/>
            <a:ext cx="6102990" cy="360483"/>
          </a:xfrm>
          <a:prstGeom prst="rect">
            <a:avLst/>
          </a:prstGeom>
          <a:noFill/>
        </p:spPr>
        <p:txBody>
          <a:bodyPr wrap="square">
            <a:spAutoFit/>
          </a:bodyPr>
          <a:lstStyle/>
          <a:p>
            <a:pPr marL="222885" marR="430530" indent="-6350" algn="just">
              <a:lnSpc>
                <a:spcPct val="103000"/>
              </a:lnSpc>
              <a:spcAft>
                <a:spcPts val="25"/>
              </a:spcAft>
            </a:pPr>
            <a:r>
              <a:rPr lang="en-IN" sz="1800" kern="100" dirty="0">
                <a:solidFill>
                  <a:srgbClr val="000000"/>
                </a:solidFill>
                <a:effectLst/>
                <a:latin typeface="Times New Roman" panose="02020603050405020304" pitchFamily="18" charset="0"/>
                <a:ea typeface="Times New Roman" panose="02020603050405020304" pitchFamily="18" charset="0"/>
              </a:rPr>
              <a:t>Detecting colour red and display the product is sorted </a:t>
            </a:r>
          </a:p>
        </p:txBody>
      </p:sp>
    </p:spTree>
    <p:extLst>
      <p:ext uri="{BB962C8B-B14F-4D97-AF65-F5344CB8AC3E}">
        <p14:creationId xmlns:p14="http://schemas.microsoft.com/office/powerpoint/2010/main" val="121929581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D7834F-0B0B-0366-6D5E-50FDD4513819}"/>
              </a:ext>
            </a:extLst>
          </p:cNvPr>
          <p:cNvSpPr>
            <a:spLocks noGrp="1"/>
          </p:cNvSpPr>
          <p:nvPr>
            <p:ph type="title"/>
          </p:nvPr>
        </p:nvSpPr>
        <p:spPr/>
        <p:txBody>
          <a:bodyPr/>
          <a:lstStyle/>
          <a:p>
            <a:r>
              <a:rPr lang="en-US" dirty="0"/>
              <a:t>OUTPUT </a:t>
            </a:r>
            <a:endParaRPr lang="en-IN" dirty="0"/>
          </a:p>
        </p:txBody>
      </p:sp>
      <p:pic>
        <p:nvPicPr>
          <p:cNvPr id="3" name="Picture 2">
            <a:extLst>
              <a:ext uri="{FF2B5EF4-FFF2-40B4-BE49-F238E27FC236}">
                <a16:creationId xmlns:a16="http://schemas.microsoft.com/office/drawing/2014/main" id="{7F3D1E0E-CB7C-3178-EC26-3F784681563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478948" y="2020252"/>
            <a:ext cx="6102990" cy="3214478"/>
          </a:xfrm>
          <a:prstGeom prst="rect">
            <a:avLst/>
          </a:prstGeom>
        </p:spPr>
      </p:pic>
      <p:sp>
        <p:nvSpPr>
          <p:cNvPr id="5" name="TextBox 4">
            <a:extLst>
              <a:ext uri="{FF2B5EF4-FFF2-40B4-BE49-F238E27FC236}">
                <a16:creationId xmlns:a16="http://schemas.microsoft.com/office/drawing/2014/main" id="{01216FB7-A955-70C7-95CE-D5CBDA94FA88}"/>
              </a:ext>
            </a:extLst>
          </p:cNvPr>
          <p:cNvSpPr txBox="1"/>
          <p:nvPr/>
        </p:nvSpPr>
        <p:spPr>
          <a:xfrm>
            <a:off x="2925661" y="5461246"/>
            <a:ext cx="6102990" cy="360483"/>
          </a:xfrm>
          <a:prstGeom prst="rect">
            <a:avLst/>
          </a:prstGeom>
          <a:noFill/>
        </p:spPr>
        <p:txBody>
          <a:bodyPr wrap="square">
            <a:spAutoFit/>
          </a:bodyPr>
          <a:lstStyle/>
          <a:p>
            <a:pPr marL="222885" marR="430530" indent="-6350" algn="just">
              <a:lnSpc>
                <a:spcPct val="103000"/>
              </a:lnSpc>
              <a:spcAft>
                <a:spcPts val="25"/>
              </a:spcAft>
              <a:buNone/>
            </a:pPr>
            <a:r>
              <a:rPr lang="en-IN" sz="1800" kern="100" dirty="0">
                <a:solidFill>
                  <a:srgbClr val="000000"/>
                </a:solidFill>
                <a:effectLst/>
                <a:latin typeface="Times New Roman" panose="02020603050405020304" pitchFamily="18" charset="0"/>
                <a:ea typeface="Times New Roman" panose="02020603050405020304" pitchFamily="18" charset="0"/>
              </a:rPr>
              <a:t>Detecting colour green and display the product is sorted                                                                    </a:t>
            </a:r>
          </a:p>
        </p:txBody>
      </p:sp>
    </p:spTree>
    <p:extLst>
      <p:ext uri="{BB962C8B-B14F-4D97-AF65-F5344CB8AC3E}">
        <p14:creationId xmlns:p14="http://schemas.microsoft.com/office/powerpoint/2010/main" val="359379448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4F6DA6-0383-2DA8-209E-4CF20AB0FB90}"/>
              </a:ext>
            </a:extLst>
          </p:cNvPr>
          <p:cNvSpPr>
            <a:spLocks noGrp="1"/>
          </p:cNvSpPr>
          <p:nvPr>
            <p:ph type="title"/>
          </p:nvPr>
        </p:nvSpPr>
        <p:spPr/>
        <p:txBody>
          <a:bodyPr/>
          <a:lstStyle/>
          <a:p>
            <a:r>
              <a:rPr lang="en-US" dirty="0"/>
              <a:t>OUTPUT </a:t>
            </a:r>
            <a:endParaRPr lang="en-IN" dirty="0"/>
          </a:p>
        </p:txBody>
      </p:sp>
      <p:pic>
        <p:nvPicPr>
          <p:cNvPr id="3" name="Picture 2">
            <a:extLst>
              <a:ext uri="{FF2B5EF4-FFF2-40B4-BE49-F238E27FC236}">
                <a16:creationId xmlns:a16="http://schemas.microsoft.com/office/drawing/2014/main" id="{E25E19B7-F5AB-5E85-8CAC-1EF328B5E220}"/>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432807" y="1971413"/>
            <a:ext cx="6260716" cy="3728172"/>
          </a:xfrm>
          <a:prstGeom prst="rect">
            <a:avLst/>
          </a:prstGeom>
        </p:spPr>
      </p:pic>
      <p:sp>
        <p:nvSpPr>
          <p:cNvPr id="5" name="TextBox 4">
            <a:extLst>
              <a:ext uri="{FF2B5EF4-FFF2-40B4-BE49-F238E27FC236}">
                <a16:creationId xmlns:a16="http://schemas.microsoft.com/office/drawing/2014/main" id="{0C937CF9-7466-12D9-FDE1-290B6D9B2813}"/>
              </a:ext>
            </a:extLst>
          </p:cNvPr>
          <p:cNvSpPr txBox="1"/>
          <p:nvPr/>
        </p:nvSpPr>
        <p:spPr>
          <a:xfrm>
            <a:off x="2841770" y="5684149"/>
            <a:ext cx="6102990" cy="369332"/>
          </a:xfrm>
          <a:prstGeom prst="rect">
            <a:avLst/>
          </a:prstGeom>
          <a:noFill/>
        </p:spPr>
        <p:txBody>
          <a:bodyPr wrap="square">
            <a:spAutoFit/>
          </a:bodyPr>
          <a:lstStyle/>
          <a:p>
            <a:r>
              <a:rPr lang="en-IN" sz="1800" dirty="0">
                <a:solidFill>
                  <a:srgbClr val="000000"/>
                </a:solidFill>
                <a:effectLst/>
                <a:latin typeface="Times New Roman" panose="02020603050405020304" pitchFamily="18" charset="0"/>
                <a:ea typeface="Times New Roman" panose="02020603050405020304" pitchFamily="18" charset="0"/>
              </a:rPr>
              <a:t>Detecting colour blue and display the product is sorted </a:t>
            </a:r>
            <a:endParaRPr lang="en-IN" dirty="0"/>
          </a:p>
        </p:txBody>
      </p:sp>
    </p:spTree>
    <p:extLst>
      <p:ext uri="{BB962C8B-B14F-4D97-AF65-F5344CB8AC3E}">
        <p14:creationId xmlns:p14="http://schemas.microsoft.com/office/powerpoint/2010/main" val="208127150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5566DE-F547-B3C5-4911-5873B5E9E031}"/>
              </a:ext>
            </a:extLst>
          </p:cNvPr>
          <p:cNvSpPr>
            <a:spLocks noGrp="1"/>
          </p:cNvSpPr>
          <p:nvPr>
            <p:ph type="title"/>
          </p:nvPr>
        </p:nvSpPr>
        <p:spPr/>
        <p:txBody>
          <a:bodyPr/>
          <a:lstStyle/>
          <a:p>
            <a:r>
              <a:rPr lang="en-US" dirty="0"/>
              <a:t>FUTURE SCOPE </a:t>
            </a:r>
            <a:endParaRPr lang="en-IN" dirty="0"/>
          </a:p>
        </p:txBody>
      </p:sp>
      <p:sp>
        <p:nvSpPr>
          <p:cNvPr id="4" name="TextBox 3">
            <a:extLst>
              <a:ext uri="{FF2B5EF4-FFF2-40B4-BE49-F238E27FC236}">
                <a16:creationId xmlns:a16="http://schemas.microsoft.com/office/drawing/2014/main" id="{FDCF1AE7-D314-8E3B-0D1C-287E280202F3}"/>
              </a:ext>
            </a:extLst>
          </p:cNvPr>
          <p:cNvSpPr txBox="1"/>
          <p:nvPr/>
        </p:nvSpPr>
        <p:spPr>
          <a:xfrm>
            <a:off x="1065401" y="804519"/>
            <a:ext cx="9675020" cy="5020862"/>
          </a:xfrm>
          <a:prstGeom prst="rect">
            <a:avLst/>
          </a:prstGeom>
          <a:noFill/>
        </p:spPr>
        <p:txBody>
          <a:bodyPr wrap="square">
            <a:spAutoFit/>
          </a:bodyPr>
          <a:lstStyle/>
          <a:p>
            <a:pPr marL="222885" marR="430530" indent="-6350" algn="just">
              <a:lnSpc>
                <a:spcPct val="115000"/>
              </a:lnSpc>
              <a:spcAft>
                <a:spcPts val="25"/>
              </a:spcAft>
              <a:buNone/>
            </a:pPr>
            <a:r>
              <a:rPr lang="en-IN" sz="1800" b="1" kern="100" dirty="0">
                <a:solidFill>
                  <a:srgbClr val="000000"/>
                </a:solidFill>
                <a:effectLst/>
                <a:latin typeface="Times New Roman" panose="02020603050405020304" pitchFamily="18" charset="0"/>
                <a:ea typeface="Times New Roman" panose="02020603050405020304" pitchFamily="18" charset="0"/>
              </a:rPr>
              <a:t> </a:t>
            </a:r>
            <a:endParaRPr lang="en-IN" sz="1800" kern="100" dirty="0">
              <a:solidFill>
                <a:srgbClr val="000000"/>
              </a:solidFill>
              <a:effectLst/>
              <a:latin typeface="Times New Roman" panose="02020603050405020304" pitchFamily="18" charset="0"/>
              <a:ea typeface="Times New Roman" panose="02020603050405020304" pitchFamily="18" charset="0"/>
            </a:endParaRPr>
          </a:p>
          <a:p>
            <a:pPr marL="222885" marR="430530" indent="-6350" algn="just">
              <a:lnSpc>
                <a:spcPct val="115000"/>
              </a:lnSpc>
              <a:spcAft>
                <a:spcPts val="25"/>
              </a:spcAft>
              <a:buNone/>
            </a:pPr>
            <a:r>
              <a:rPr lang="en-IN" sz="1800" b="1" kern="100" dirty="0">
                <a:solidFill>
                  <a:srgbClr val="000000"/>
                </a:solidFill>
                <a:effectLst/>
                <a:latin typeface="Times New Roman" panose="02020603050405020304" pitchFamily="18" charset="0"/>
                <a:ea typeface="Times New Roman" panose="02020603050405020304" pitchFamily="18" charset="0"/>
              </a:rPr>
              <a:t>                                       </a:t>
            </a:r>
            <a:endParaRPr lang="en-IN" sz="1800" kern="100" dirty="0">
              <a:solidFill>
                <a:srgbClr val="000000"/>
              </a:solidFill>
              <a:effectLst/>
              <a:latin typeface="Times New Roman" panose="02020603050405020304" pitchFamily="18" charset="0"/>
              <a:ea typeface="Times New Roman" panose="02020603050405020304" pitchFamily="18" charset="0"/>
            </a:endParaRPr>
          </a:p>
          <a:p>
            <a:pPr marL="222885" marR="430530" indent="-6350" algn="just">
              <a:lnSpc>
                <a:spcPct val="115000"/>
              </a:lnSpc>
              <a:spcAft>
                <a:spcPts val="25"/>
              </a:spcAft>
              <a:buNone/>
            </a:pPr>
            <a:r>
              <a:rPr lang="en-IN" sz="1600" kern="100" dirty="0">
                <a:solidFill>
                  <a:srgbClr val="000000"/>
                </a:solidFill>
                <a:effectLst/>
                <a:latin typeface="Times New Roman" panose="02020603050405020304" pitchFamily="18" charset="0"/>
                <a:ea typeface="Times New Roman" panose="02020603050405020304" pitchFamily="18" charset="0"/>
              </a:rPr>
              <a:t> </a:t>
            </a:r>
            <a:endParaRPr lang="en-IN" sz="1800" kern="100" dirty="0">
              <a:solidFill>
                <a:srgbClr val="000000"/>
              </a:solidFill>
              <a:effectLst/>
              <a:latin typeface="Times New Roman" panose="02020603050405020304" pitchFamily="18" charset="0"/>
              <a:ea typeface="Times New Roman" panose="02020603050405020304" pitchFamily="18" charset="0"/>
            </a:endParaRPr>
          </a:p>
          <a:p>
            <a:pPr marL="222885" marR="153035" indent="-6350" algn="just">
              <a:lnSpc>
                <a:spcPct val="115000"/>
              </a:lnSpc>
              <a:spcAft>
                <a:spcPts val="25"/>
              </a:spcAft>
              <a:buNone/>
            </a:pPr>
            <a:r>
              <a:rPr lang="en-IN" sz="1800" kern="100" dirty="0">
                <a:solidFill>
                  <a:srgbClr val="000000"/>
                </a:solidFill>
                <a:effectLst/>
                <a:latin typeface="Times New Roman" panose="02020603050405020304" pitchFamily="18" charset="0"/>
                <a:ea typeface="Times New Roman" panose="02020603050405020304" pitchFamily="18" charset="0"/>
              </a:rPr>
              <a:t> </a:t>
            </a:r>
          </a:p>
          <a:p>
            <a:pPr marL="222885" marR="153035" indent="-6350" algn="just">
              <a:lnSpc>
                <a:spcPct val="150000"/>
              </a:lnSpc>
              <a:spcAft>
                <a:spcPts val="25"/>
              </a:spcAft>
            </a:pPr>
            <a:r>
              <a:rPr lang="en-IN" sz="1800" kern="100" dirty="0">
                <a:solidFill>
                  <a:srgbClr val="000000"/>
                </a:solidFill>
                <a:effectLst/>
                <a:latin typeface="Times New Roman" panose="02020603050405020304" pitchFamily="18" charset="0"/>
                <a:ea typeface="Times New Roman" panose="02020603050405020304" pitchFamily="18" charset="0"/>
              </a:rPr>
              <a:t>       In the future, this </a:t>
            </a:r>
            <a:r>
              <a:rPr lang="en-IN" sz="1800" kern="100" dirty="0" err="1">
                <a:solidFill>
                  <a:srgbClr val="000000"/>
                </a:solidFill>
                <a:effectLst/>
                <a:latin typeface="Times New Roman" panose="02020603050405020304" pitchFamily="18" charset="0"/>
                <a:ea typeface="Times New Roman" panose="02020603050405020304" pitchFamily="18" charset="0"/>
              </a:rPr>
              <a:t>color</a:t>
            </a:r>
            <a:r>
              <a:rPr lang="en-IN" sz="1800" kern="100" dirty="0">
                <a:solidFill>
                  <a:srgbClr val="000000"/>
                </a:solidFill>
                <a:effectLst/>
                <a:latin typeface="Times New Roman" panose="02020603050405020304" pitchFamily="18" charset="0"/>
                <a:ea typeface="Times New Roman" panose="02020603050405020304" pitchFamily="18" charset="0"/>
              </a:rPr>
              <a:t> sorting system can be enhanced by incorporating additional sensors to detect a wider range of </a:t>
            </a:r>
            <a:r>
              <a:rPr lang="en-IN" sz="1800" kern="100" dirty="0" err="1">
                <a:solidFill>
                  <a:srgbClr val="000000"/>
                </a:solidFill>
                <a:effectLst/>
                <a:latin typeface="Times New Roman" panose="02020603050405020304" pitchFamily="18" charset="0"/>
                <a:ea typeface="Times New Roman" panose="02020603050405020304" pitchFamily="18" charset="0"/>
              </a:rPr>
              <a:t>colors</a:t>
            </a:r>
            <a:r>
              <a:rPr lang="en-IN" sz="1800" kern="100" dirty="0">
                <a:solidFill>
                  <a:srgbClr val="000000"/>
                </a:solidFill>
                <a:effectLst/>
                <a:latin typeface="Times New Roman" panose="02020603050405020304" pitchFamily="18" charset="0"/>
                <a:ea typeface="Times New Roman" panose="02020603050405020304" pitchFamily="18" charset="0"/>
              </a:rPr>
              <a:t> and improve accuracy. Using more servo motors or robotic arms could allow sorting of more </a:t>
            </a:r>
            <a:r>
              <a:rPr lang="en-IN" sz="1800" kern="100" dirty="0" err="1">
                <a:solidFill>
                  <a:srgbClr val="000000"/>
                </a:solidFill>
                <a:effectLst/>
                <a:latin typeface="Times New Roman" panose="02020603050405020304" pitchFamily="18" charset="0"/>
                <a:ea typeface="Times New Roman" panose="02020603050405020304" pitchFamily="18" charset="0"/>
              </a:rPr>
              <a:t>colors</a:t>
            </a:r>
            <a:r>
              <a:rPr lang="en-IN" sz="1800" kern="100" dirty="0">
                <a:solidFill>
                  <a:srgbClr val="000000"/>
                </a:solidFill>
                <a:effectLst/>
                <a:latin typeface="Times New Roman" panose="02020603050405020304" pitchFamily="18" charset="0"/>
                <a:ea typeface="Times New Roman" panose="02020603050405020304" pitchFamily="18" charset="0"/>
              </a:rPr>
              <a:t>, such as yellow and orange, or even multiple objects simultaneously for higher efficiency. Integrating wireless communication or IoT features would enable remote monitoring and control, making the system more versatile for industrial applications. Furthermore, implementing machine learning algorithms could improve </a:t>
            </a:r>
            <a:r>
              <a:rPr lang="en-IN" sz="1800" kern="100" dirty="0" err="1">
                <a:solidFill>
                  <a:srgbClr val="000000"/>
                </a:solidFill>
                <a:effectLst/>
                <a:latin typeface="Times New Roman" panose="02020603050405020304" pitchFamily="18" charset="0"/>
                <a:ea typeface="Times New Roman" panose="02020603050405020304" pitchFamily="18" charset="0"/>
              </a:rPr>
              <a:t>color</a:t>
            </a:r>
            <a:r>
              <a:rPr lang="en-IN" sz="1800" kern="100" dirty="0">
                <a:solidFill>
                  <a:srgbClr val="000000"/>
                </a:solidFill>
                <a:effectLst/>
                <a:latin typeface="Times New Roman" panose="02020603050405020304" pitchFamily="18" charset="0"/>
                <a:ea typeface="Times New Roman" panose="02020603050405020304" pitchFamily="18" charset="0"/>
              </a:rPr>
              <a:t> recognition under varying lighting conditions and object shapes, making the sorter more adaptive and reliable in real-world environments. Lastly, scaling up the system with conveyor belts and automatic object feeding mechanisms could transform this project into a fully automated sorting line.</a:t>
            </a:r>
          </a:p>
        </p:txBody>
      </p:sp>
    </p:spTree>
    <p:extLst>
      <p:ext uri="{BB962C8B-B14F-4D97-AF65-F5344CB8AC3E}">
        <p14:creationId xmlns:p14="http://schemas.microsoft.com/office/powerpoint/2010/main" val="94241436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227598-A95A-CA6C-79BE-9D27939B48CC}"/>
              </a:ext>
            </a:extLst>
          </p:cNvPr>
          <p:cNvSpPr>
            <a:spLocks noGrp="1"/>
          </p:cNvSpPr>
          <p:nvPr>
            <p:ph type="title"/>
          </p:nvPr>
        </p:nvSpPr>
        <p:spPr/>
        <p:txBody>
          <a:bodyPr/>
          <a:lstStyle/>
          <a:p>
            <a:r>
              <a:rPr lang="en-US" dirty="0"/>
              <a:t>CONCLUSION </a:t>
            </a:r>
            <a:endParaRPr lang="en-IN" dirty="0"/>
          </a:p>
        </p:txBody>
      </p:sp>
      <p:sp>
        <p:nvSpPr>
          <p:cNvPr id="4" name="TextBox 3">
            <a:extLst>
              <a:ext uri="{FF2B5EF4-FFF2-40B4-BE49-F238E27FC236}">
                <a16:creationId xmlns:a16="http://schemas.microsoft.com/office/drawing/2014/main" id="{3872AB4F-CBF6-F550-04A3-44842E1EF295}"/>
              </a:ext>
            </a:extLst>
          </p:cNvPr>
          <p:cNvSpPr txBox="1"/>
          <p:nvPr/>
        </p:nvSpPr>
        <p:spPr>
          <a:xfrm>
            <a:off x="872454" y="1317072"/>
            <a:ext cx="10108735" cy="4482894"/>
          </a:xfrm>
          <a:prstGeom prst="rect">
            <a:avLst/>
          </a:prstGeom>
          <a:noFill/>
        </p:spPr>
        <p:txBody>
          <a:bodyPr wrap="square">
            <a:spAutoFit/>
          </a:bodyPr>
          <a:lstStyle/>
          <a:p>
            <a:pPr marL="222885" marR="430530" indent="-6350" algn="just">
              <a:lnSpc>
                <a:spcPct val="103000"/>
              </a:lnSpc>
              <a:spcAft>
                <a:spcPts val="25"/>
              </a:spcAft>
              <a:buNone/>
            </a:pPr>
            <a:endParaRPr lang="en-IN" sz="1800" kern="100" dirty="0">
              <a:solidFill>
                <a:srgbClr val="000000"/>
              </a:solidFill>
              <a:effectLst/>
              <a:latin typeface="Times New Roman" panose="02020603050405020304" pitchFamily="18" charset="0"/>
              <a:ea typeface="Times New Roman" panose="02020603050405020304" pitchFamily="18" charset="0"/>
            </a:endParaRPr>
          </a:p>
          <a:p>
            <a:pPr marL="222885" marR="430530" indent="-6350" algn="just">
              <a:lnSpc>
                <a:spcPct val="150000"/>
              </a:lnSpc>
              <a:spcAft>
                <a:spcPts val="25"/>
              </a:spcAft>
              <a:buNone/>
            </a:pPr>
            <a:r>
              <a:rPr lang="en-IN" sz="1800" b="1" kern="100" dirty="0">
                <a:solidFill>
                  <a:srgbClr val="000000"/>
                </a:solidFill>
                <a:effectLst/>
                <a:latin typeface="Times New Roman" panose="02020603050405020304" pitchFamily="18" charset="0"/>
                <a:ea typeface="Times New Roman" panose="02020603050405020304" pitchFamily="18" charset="0"/>
              </a:rPr>
              <a:t> </a:t>
            </a:r>
            <a:endParaRPr lang="en-IN" sz="1800" kern="100" dirty="0">
              <a:solidFill>
                <a:srgbClr val="000000"/>
              </a:solidFill>
              <a:effectLst/>
              <a:latin typeface="Times New Roman" panose="02020603050405020304" pitchFamily="18" charset="0"/>
              <a:ea typeface="Times New Roman" panose="02020603050405020304" pitchFamily="18" charset="0"/>
            </a:endParaRPr>
          </a:p>
          <a:p>
            <a:pPr marL="222885" marR="153035" indent="-6350" algn="just">
              <a:lnSpc>
                <a:spcPct val="150000"/>
              </a:lnSpc>
              <a:spcAft>
                <a:spcPts val="25"/>
              </a:spcAft>
            </a:pPr>
            <a:r>
              <a:rPr lang="en-IN" sz="1800" kern="100" dirty="0">
                <a:solidFill>
                  <a:srgbClr val="000000"/>
                </a:solidFill>
                <a:effectLst/>
                <a:latin typeface="Times New Roman" panose="02020603050405020304" pitchFamily="18" charset="0"/>
                <a:ea typeface="Times New Roman" panose="02020603050405020304" pitchFamily="18" charset="0"/>
              </a:rPr>
              <a:t>       The </a:t>
            </a:r>
            <a:r>
              <a:rPr lang="en-IN" sz="1800" kern="100" dirty="0" err="1">
                <a:solidFill>
                  <a:srgbClr val="000000"/>
                </a:solidFill>
                <a:effectLst/>
                <a:latin typeface="Times New Roman" panose="02020603050405020304" pitchFamily="18" charset="0"/>
                <a:ea typeface="Times New Roman" panose="02020603050405020304" pitchFamily="18" charset="0"/>
              </a:rPr>
              <a:t>color</a:t>
            </a:r>
            <a:r>
              <a:rPr lang="en-IN" sz="1800" kern="100" dirty="0">
                <a:solidFill>
                  <a:srgbClr val="000000"/>
                </a:solidFill>
                <a:effectLst/>
                <a:latin typeface="Times New Roman" panose="02020603050405020304" pitchFamily="18" charset="0"/>
                <a:ea typeface="Times New Roman" panose="02020603050405020304" pitchFamily="18" charset="0"/>
              </a:rPr>
              <a:t> sorting system was successfully developed using the TCS3200 </a:t>
            </a:r>
            <a:r>
              <a:rPr lang="en-IN" sz="1800" kern="100" dirty="0" err="1">
                <a:solidFill>
                  <a:srgbClr val="000000"/>
                </a:solidFill>
                <a:effectLst/>
                <a:latin typeface="Times New Roman" panose="02020603050405020304" pitchFamily="18" charset="0"/>
                <a:ea typeface="Times New Roman" panose="02020603050405020304" pitchFamily="18" charset="0"/>
              </a:rPr>
              <a:t>color</a:t>
            </a:r>
            <a:r>
              <a:rPr lang="en-IN" sz="1800" kern="100" dirty="0">
                <a:solidFill>
                  <a:srgbClr val="000000"/>
                </a:solidFill>
                <a:effectLst/>
                <a:latin typeface="Times New Roman" panose="02020603050405020304" pitchFamily="18" charset="0"/>
                <a:ea typeface="Times New Roman" panose="02020603050405020304" pitchFamily="18" charset="0"/>
              </a:rPr>
              <a:t> sensor and two servo motors, controlled by an Arduino board. The sensor accurately detects the primary </a:t>
            </a:r>
            <a:r>
              <a:rPr lang="en-IN" sz="1800" kern="100" dirty="0" err="1">
                <a:solidFill>
                  <a:srgbClr val="000000"/>
                </a:solidFill>
                <a:effectLst/>
                <a:latin typeface="Times New Roman" panose="02020603050405020304" pitchFamily="18" charset="0"/>
                <a:ea typeface="Times New Roman" panose="02020603050405020304" pitchFamily="18" charset="0"/>
              </a:rPr>
              <a:t>colors</a:t>
            </a:r>
            <a:r>
              <a:rPr lang="en-IN" sz="1800" kern="100" dirty="0">
                <a:solidFill>
                  <a:srgbClr val="000000"/>
                </a:solidFill>
                <a:effectLst/>
                <a:latin typeface="Times New Roman" panose="02020603050405020304" pitchFamily="18" charset="0"/>
                <a:ea typeface="Times New Roman" panose="02020603050405020304" pitchFamily="18" charset="0"/>
              </a:rPr>
              <a:t>—red, green, and blue—based on light frequency values. Once a </a:t>
            </a:r>
            <a:r>
              <a:rPr lang="en-IN" sz="1800" kern="100" dirty="0" err="1">
                <a:solidFill>
                  <a:srgbClr val="000000"/>
                </a:solidFill>
                <a:effectLst/>
                <a:latin typeface="Times New Roman" panose="02020603050405020304" pitchFamily="18" charset="0"/>
                <a:ea typeface="Times New Roman" panose="02020603050405020304" pitchFamily="18" charset="0"/>
              </a:rPr>
              <a:t>color</a:t>
            </a:r>
            <a:r>
              <a:rPr lang="en-IN" sz="1800" kern="100" dirty="0">
                <a:solidFill>
                  <a:srgbClr val="000000"/>
                </a:solidFill>
                <a:effectLst/>
                <a:latin typeface="Times New Roman" panose="02020603050405020304" pitchFamily="18" charset="0"/>
                <a:ea typeface="Times New Roman" panose="02020603050405020304" pitchFamily="18" charset="0"/>
              </a:rPr>
              <a:t> is identified, the Arduino triggers the appropriate servo motor to sort the object into its designated position. One servo motor is dedicated to sorting green objects, while the second servo handles both red and blue objects by moving to specific angles for each </a:t>
            </a:r>
            <a:r>
              <a:rPr lang="en-IN" sz="1800" kern="100" dirty="0" err="1">
                <a:solidFill>
                  <a:srgbClr val="000000"/>
                </a:solidFill>
                <a:effectLst/>
                <a:latin typeface="Times New Roman" panose="02020603050405020304" pitchFamily="18" charset="0"/>
                <a:ea typeface="Times New Roman" panose="02020603050405020304" pitchFamily="18" charset="0"/>
              </a:rPr>
              <a:t>color</a:t>
            </a:r>
            <a:r>
              <a:rPr lang="en-IN" sz="1800" kern="100" dirty="0">
                <a:solidFill>
                  <a:srgbClr val="000000"/>
                </a:solidFill>
                <a:effectLst/>
                <a:latin typeface="Times New Roman" panose="02020603050405020304" pitchFamily="18" charset="0"/>
                <a:ea typeface="Times New Roman" panose="02020603050405020304" pitchFamily="18" charset="0"/>
              </a:rPr>
              <a:t>. The system also includes an I2C LCD display that shows the detected </a:t>
            </a:r>
            <a:r>
              <a:rPr lang="en-IN" sz="1800" kern="100" dirty="0" err="1">
                <a:solidFill>
                  <a:srgbClr val="000000"/>
                </a:solidFill>
                <a:effectLst/>
                <a:latin typeface="Times New Roman" panose="02020603050405020304" pitchFamily="18" charset="0"/>
                <a:ea typeface="Times New Roman" panose="02020603050405020304" pitchFamily="18" charset="0"/>
              </a:rPr>
              <a:t>color</a:t>
            </a:r>
            <a:r>
              <a:rPr lang="en-IN" sz="1800" kern="100" dirty="0">
                <a:solidFill>
                  <a:srgbClr val="000000"/>
                </a:solidFill>
                <a:effectLst/>
                <a:latin typeface="Times New Roman" panose="02020603050405020304" pitchFamily="18" charset="0"/>
                <a:ea typeface="Times New Roman" panose="02020603050405020304" pitchFamily="18" charset="0"/>
              </a:rPr>
              <a:t> and sorting status in real-time, enhancing user interaction. This project demonstrates a simple yet effective method for </a:t>
            </a:r>
            <a:r>
              <a:rPr lang="en-IN" sz="1800" kern="100" dirty="0" err="1">
                <a:solidFill>
                  <a:srgbClr val="000000"/>
                </a:solidFill>
                <a:effectLst/>
                <a:latin typeface="Times New Roman" panose="02020603050405020304" pitchFamily="18" charset="0"/>
                <a:ea typeface="Times New Roman" panose="02020603050405020304" pitchFamily="18" charset="0"/>
              </a:rPr>
              <a:t>color</a:t>
            </a:r>
            <a:r>
              <a:rPr lang="en-IN" sz="1800" kern="100" dirty="0">
                <a:solidFill>
                  <a:srgbClr val="000000"/>
                </a:solidFill>
                <a:effectLst/>
                <a:latin typeface="Times New Roman" panose="02020603050405020304" pitchFamily="18" charset="0"/>
                <a:ea typeface="Times New Roman" panose="02020603050405020304" pitchFamily="18" charset="0"/>
              </a:rPr>
              <a:t>-based object classification, offering a practical application in automation, recycling, and learning environments</a:t>
            </a:r>
            <a:r>
              <a:rPr lang="en-IN" sz="1600" b="1" kern="100" dirty="0">
                <a:solidFill>
                  <a:srgbClr val="000000"/>
                </a:solidFill>
                <a:effectLst/>
                <a:latin typeface="Times New Roman" panose="02020603050405020304" pitchFamily="18" charset="0"/>
                <a:ea typeface="Times New Roman" panose="02020603050405020304" pitchFamily="18" charset="0"/>
              </a:rPr>
              <a:t>.</a:t>
            </a:r>
            <a:endParaRPr lang="en-IN" dirty="0"/>
          </a:p>
        </p:txBody>
      </p:sp>
    </p:spTree>
    <p:extLst>
      <p:ext uri="{BB962C8B-B14F-4D97-AF65-F5344CB8AC3E}">
        <p14:creationId xmlns:p14="http://schemas.microsoft.com/office/powerpoint/2010/main" val="179510367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12AF0E-6D30-A80A-D50F-685E653E5184}"/>
              </a:ext>
            </a:extLst>
          </p:cNvPr>
          <p:cNvSpPr>
            <a:spLocks noGrp="1"/>
          </p:cNvSpPr>
          <p:nvPr>
            <p:ph type="title"/>
          </p:nvPr>
        </p:nvSpPr>
        <p:spPr/>
        <p:txBody>
          <a:bodyPr>
            <a:normAutofit/>
          </a:bodyPr>
          <a:lstStyle/>
          <a:p>
            <a:r>
              <a:rPr lang="en-US" sz="4000" dirty="0">
                <a:latin typeface="Times New Roman" panose="02020603050405020304" pitchFamily="18" charset="0"/>
                <a:cs typeface="Times New Roman" panose="02020603050405020304" pitchFamily="18" charset="0"/>
              </a:rPr>
              <a:t>REFERENCE </a:t>
            </a:r>
            <a:endParaRPr lang="en-IN" sz="4000"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B02F6B62-C5AF-1E4B-5123-EBB937C12EA9}"/>
              </a:ext>
            </a:extLst>
          </p:cNvPr>
          <p:cNvSpPr txBox="1"/>
          <p:nvPr/>
        </p:nvSpPr>
        <p:spPr>
          <a:xfrm>
            <a:off x="1451579" y="2082477"/>
            <a:ext cx="6102990" cy="939424"/>
          </a:xfrm>
          <a:prstGeom prst="rect">
            <a:avLst/>
          </a:prstGeom>
          <a:noFill/>
        </p:spPr>
        <p:txBody>
          <a:bodyPr wrap="square">
            <a:spAutoFit/>
          </a:bodyPr>
          <a:lstStyle/>
          <a:p>
            <a:pPr marR="218440" lvl="0" algn="just" fontAlgn="base">
              <a:lnSpc>
                <a:spcPct val="103000"/>
              </a:lnSpc>
              <a:spcAft>
                <a:spcPts val="25"/>
              </a:spcAft>
              <a:buClr>
                <a:srgbClr val="000000"/>
              </a:buClr>
              <a:buSzPts val="1400"/>
            </a:pPr>
            <a:r>
              <a:rPr lang="en-IN" kern="100" dirty="0">
                <a:solidFill>
                  <a:srgbClr val="000000"/>
                </a:solidFill>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[1] </a:t>
            </a:r>
            <a:r>
              <a:rPr lang="en-IN" sz="1800" u="none" strike="noStrike" kern="100" dirty="0">
                <a:solidFill>
                  <a:srgbClr val="000000"/>
                </a:solidFill>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R. Bogue, “Optical chemical sensors for industrial applications”, 2007. </a:t>
            </a:r>
          </a:p>
          <a:p>
            <a:pPr marL="222885" marR="430530" indent="-6350" algn="l">
              <a:lnSpc>
                <a:spcPct val="107000"/>
              </a:lnSpc>
              <a:spcAft>
                <a:spcPts val="25"/>
              </a:spcAft>
            </a:pPr>
            <a:r>
              <a:rPr lang="en-IN" sz="1800" kern="100" dirty="0">
                <a:solidFill>
                  <a:srgbClr val="000000"/>
                </a:solidFill>
                <a:effectLst/>
                <a:latin typeface="Times New Roman" panose="02020603050405020304" pitchFamily="18" charset="0"/>
                <a:ea typeface="Times New Roman" panose="02020603050405020304" pitchFamily="18" charset="0"/>
              </a:rPr>
              <a:t> </a:t>
            </a:r>
          </a:p>
        </p:txBody>
      </p:sp>
      <p:sp>
        <p:nvSpPr>
          <p:cNvPr id="8" name="TextBox 7">
            <a:extLst>
              <a:ext uri="{FF2B5EF4-FFF2-40B4-BE49-F238E27FC236}">
                <a16:creationId xmlns:a16="http://schemas.microsoft.com/office/drawing/2014/main" id="{350A1F74-4DBF-1E87-2A08-7FCCB1C42360}"/>
              </a:ext>
            </a:extLst>
          </p:cNvPr>
          <p:cNvSpPr txBox="1"/>
          <p:nvPr/>
        </p:nvSpPr>
        <p:spPr>
          <a:xfrm>
            <a:off x="1451579" y="2782669"/>
            <a:ext cx="6102990" cy="646331"/>
          </a:xfrm>
          <a:prstGeom prst="rect">
            <a:avLst/>
          </a:prstGeom>
          <a:noFill/>
        </p:spPr>
        <p:txBody>
          <a:bodyPr wrap="square">
            <a:spAutoFit/>
          </a:bodyPr>
          <a:lstStyle/>
          <a:p>
            <a:r>
              <a:rPr lang="en-IN" dirty="0">
                <a:latin typeface="Times New Roman" panose="02020603050405020304" pitchFamily="18" charset="0"/>
                <a:cs typeface="Times New Roman" panose="02020603050405020304" pitchFamily="18" charset="0"/>
              </a:rPr>
              <a:t>[2] Malathy Jawahar   “</a:t>
            </a:r>
            <a:r>
              <a:rPr lang="en-US" dirty="0">
                <a:latin typeface="Times New Roman" panose="02020603050405020304" pitchFamily="18" charset="0"/>
                <a:cs typeface="Times New Roman" panose="02020603050405020304" pitchFamily="18" charset="0"/>
              </a:rPr>
              <a:t>Sensor based Color Sorting System for leather shoe components” 2017</a:t>
            </a:r>
            <a:endParaRPr lang="en-IN" dirty="0">
              <a:latin typeface="Times New Roman" panose="02020603050405020304" pitchFamily="18" charset="0"/>
              <a:cs typeface="Times New Roman" panose="02020603050405020304" pitchFamily="18" charset="0"/>
            </a:endParaRPr>
          </a:p>
        </p:txBody>
      </p:sp>
      <p:sp>
        <p:nvSpPr>
          <p:cNvPr id="10" name="TextBox 9">
            <a:extLst>
              <a:ext uri="{FF2B5EF4-FFF2-40B4-BE49-F238E27FC236}">
                <a16:creationId xmlns:a16="http://schemas.microsoft.com/office/drawing/2014/main" id="{BCBCFEA4-57CD-44BD-6421-8598127F003B}"/>
              </a:ext>
            </a:extLst>
          </p:cNvPr>
          <p:cNvSpPr txBox="1"/>
          <p:nvPr/>
        </p:nvSpPr>
        <p:spPr>
          <a:xfrm>
            <a:off x="1451579" y="3482861"/>
            <a:ext cx="6102990" cy="646331"/>
          </a:xfrm>
          <a:prstGeom prst="rect">
            <a:avLst/>
          </a:prstGeom>
          <a:noFill/>
        </p:spPr>
        <p:txBody>
          <a:bodyPr wrap="square">
            <a:spAutoFit/>
          </a:bodyPr>
          <a:lstStyle/>
          <a:p>
            <a:r>
              <a:rPr lang="en-IN" dirty="0">
                <a:latin typeface="Times New Roman" panose="02020603050405020304" pitchFamily="18" charset="0"/>
                <a:cs typeface="Times New Roman" panose="02020603050405020304" pitchFamily="18" charset="0"/>
              </a:rPr>
              <a:t>[3] Timothy Henry  “</a:t>
            </a:r>
            <a:r>
              <a:rPr lang="en-US" dirty="0">
                <a:latin typeface="Times New Roman" panose="02020603050405020304" pitchFamily="18" charset="0"/>
                <a:cs typeface="Times New Roman" panose="02020603050405020304" pitchFamily="18" charset="0"/>
              </a:rPr>
              <a:t>Design and Construction of Color Sensor Based Optical Sorting Machine “ 2015</a:t>
            </a:r>
            <a:endParaRPr lang="en-IN" dirty="0">
              <a:latin typeface="Times New Roman" panose="02020603050405020304" pitchFamily="18" charset="0"/>
              <a:cs typeface="Times New Roman" panose="02020603050405020304" pitchFamily="18" charset="0"/>
            </a:endParaRPr>
          </a:p>
        </p:txBody>
      </p:sp>
      <p:sp>
        <p:nvSpPr>
          <p:cNvPr id="12" name="TextBox 11">
            <a:extLst>
              <a:ext uri="{FF2B5EF4-FFF2-40B4-BE49-F238E27FC236}">
                <a16:creationId xmlns:a16="http://schemas.microsoft.com/office/drawing/2014/main" id="{8D671DCB-2F6C-25F6-64C1-F2D997194306}"/>
              </a:ext>
            </a:extLst>
          </p:cNvPr>
          <p:cNvSpPr txBox="1"/>
          <p:nvPr/>
        </p:nvSpPr>
        <p:spPr>
          <a:xfrm>
            <a:off x="1451579" y="4183053"/>
            <a:ext cx="6102990" cy="646331"/>
          </a:xfrm>
          <a:prstGeom prst="rect">
            <a:avLst/>
          </a:prstGeom>
          <a:noFill/>
        </p:spPr>
        <p:txBody>
          <a:bodyPr wrap="square">
            <a:spAutoFit/>
          </a:bodyPr>
          <a:lstStyle/>
          <a:p>
            <a:r>
              <a:rPr lang="en-IN" dirty="0">
                <a:latin typeface="Times New Roman" panose="02020603050405020304" pitchFamily="18" charset="0"/>
                <a:cs typeface="Times New Roman" panose="02020603050405020304" pitchFamily="18" charset="0"/>
              </a:rPr>
              <a:t>[4] Md. </a:t>
            </a:r>
            <a:r>
              <a:rPr lang="en-IN" dirty="0" err="1">
                <a:latin typeface="Times New Roman" panose="02020603050405020304" pitchFamily="18" charset="0"/>
                <a:cs typeface="Times New Roman" panose="02020603050405020304" pitchFamily="18" charset="0"/>
              </a:rPr>
              <a:t>Mostafizur</a:t>
            </a:r>
            <a:r>
              <a:rPr lang="en-IN" dirty="0">
                <a:latin typeface="Times New Roman" panose="02020603050405020304" pitchFamily="18" charset="0"/>
                <a:cs typeface="Times New Roman" panose="02020603050405020304" pitchFamily="18" charset="0"/>
              </a:rPr>
              <a:t> Rahman Komol  “</a:t>
            </a:r>
            <a:r>
              <a:rPr lang="en-US" dirty="0">
                <a:latin typeface="Times New Roman" panose="02020603050405020304" pitchFamily="18" charset="0"/>
                <a:cs typeface="Times New Roman" panose="02020603050405020304" pitchFamily="18" charset="0"/>
              </a:rPr>
              <a:t>Design and Construction of Product Separating Conveyor based on Color” 2019</a:t>
            </a:r>
            <a:endParaRPr lang="en-IN" dirty="0">
              <a:latin typeface="Times New Roman" panose="02020603050405020304" pitchFamily="18" charset="0"/>
              <a:cs typeface="Times New Roman" panose="02020603050405020304" pitchFamily="18" charset="0"/>
            </a:endParaRPr>
          </a:p>
        </p:txBody>
      </p:sp>
      <p:sp>
        <p:nvSpPr>
          <p:cNvPr id="14" name="TextBox 13">
            <a:extLst>
              <a:ext uri="{FF2B5EF4-FFF2-40B4-BE49-F238E27FC236}">
                <a16:creationId xmlns:a16="http://schemas.microsoft.com/office/drawing/2014/main" id="{F275DD46-871D-5EDA-0761-DC301DE57166}"/>
              </a:ext>
            </a:extLst>
          </p:cNvPr>
          <p:cNvSpPr txBox="1"/>
          <p:nvPr/>
        </p:nvSpPr>
        <p:spPr>
          <a:xfrm>
            <a:off x="1350628" y="4829384"/>
            <a:ext cx="6025392" cy="645818"/>
          </a:xfrm>
          <a:prstGeom prst="rect">
            <a:avLst/>
          </a:prstGeom>
          <a:noFill/>
        </p:spPr>
        <p:txBody>
          <a:bodyPr wrap="square">
            <a:spAutoFit/>
          </a:bodyPr>
          <a:lstStyle/>
          <a:p>
            <a:pPr marR="218440" lvl="0" algn="just" fontAlgn="base">
              <a:lnSpc>
                <a:spcPct val="103000"/>
              </a:lnSpc>
              <a:spcAft>
                <a:spcPts val="45005"/>
              </a:spcAft>
              <a:buClr>
                <a:srgbClr val="000000"/>
              </a:buClr>
              <a:buSzPts val="1400"/>
            </a:pPr>
            <a:r>
              <a:rPr lang="en-IN" sz="1800" u="none" strike="noStrike" kern="100" dirty="0">
                <a:solidFill>
                  <a:srgbClr val="000000"/>
                </a:solidFill>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  [5] R Mattone, G. </a:t>
            </a:r>
            <a:r>
              <a:rPr lang="en-IN" sz="1800" u="none" strike="noStrike" kern="100" dirty="0" err="1">
                <a:solidFill>
                  <a:srgbClr val="000000"/>
                </a:solidFill>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Campagiorni</a:t>
            </a:r>
            <a:r>
              <a:rPr lang="en-IN" sz="1800" u="none" strike="noStrike" kern="100" dirty="0">
                <a:solidFill>
                  <a:srgbClr val="000000"/>
                </a:solidFill>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 F. Galati, “Sorting of   items on a moving conveyor belt”, 1999.</a:t>
            </a:r>
          </a:p>
        </p:txBody>
      </p:sp>
    </p:spTree>
    <p:extLst>
      <p:ext uri="{BB962C8B-B14F-4D97-AF65-F5344CB8AC3E}">
        <p14:creationId xmlns:p14="http://schemas.microsoft.com/office/powerpoint/2010/main" val="148803276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4D6B440-C609-39CB-2D8B-3AD04C43A713}"/>
              </a:ext>
            </a:extLst>
          </p:cNvPr>
          <p:cNvSpPr txBox="1"/>
          <p:nvPr/>
        </p:nvSpPr>
        <p:spPr>
          <a:xfrm>
            <a:off x="761301" y="72957"/>
            <a:ext cx="6102990" cy="1224759"/>
          </a:xfrm>
          <a:prstGeom prst="rect">
            <a:avLst/>
          </a:prstGeom>
          <a:noFill/>
        </p:spPr>
        <p:txBody>
          <a:bodyPr wrap="square">
            <a:spAutoFit/>
          </a:bodyPr>
          <a:lstStyle/>
          <a:p>
            <a:pPr marR="218440" lvl="0" algn="just" fontAlgn="base">
              <a:lnSpc>
                <a:spcPct val="103000"/>
              </a:lnSpc>
              <a:spcAft>
                <a:spcPts val="25"/>
              </a:spcAft>
              <a:buClr>
                <a:srgbClr val="000000"/>
              </a:buClr>
              <a:buSzPts val="1400"/>
            </a:pPr>
            <a:r>
              <a:rPr lang="en-IN" sz="1800" u="none" strike="noStrike" kern="100" dirty="0">
                <a:solidFill>
                  <a:srgbClr val="000000"/>
                </a:solidFill>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[6] C. Zhang and K. S. </a:t>
            </a:r>
            <a:r>
              <a:rPr lang="en-IN" sz="1800" u="none" strike="noStrike" kern="100" dirty="0" err="1">
                <a:solidFill>
                  <a:srgbClr val="000000"/>
                </a:solidFill>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Suslick</a:t>
            </a:r>
            <a:r>
              <a:rPr lang="en-IN" sz="1800" u="none" strike="noStrike" kern="100" dirty="0">
                <a:solidFill>
                  <a:srgbClr val="000000"/>
                </a:solidFill>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 “Colorimetric sensor array for soft drinks analysis”, J. Agric Food Chem, vol 55, pp 237-242, 2007. </a:t>
            </a:r>
          </a:p>
          <a:p>
            <a:pPr marL="8890" marR="430530" indent="-6350" algn="l">
              <a:lnSpc>
                <a:spcPct val="107000"/>
              </a:lnSpc>
              <a:spcAft>
                <a:spcPts val="25"/>
              </a:spcAft>
            </a:pPr>
            <a:r>
              <a:rPr lang="en-IN" sz="1800" kern="100" dirty="0">
                <a:solidFill>
                  <a:srgbClr val="000000"/>
                </a:solidFill>
                <a:effectLst/>
                <a:latin typeface="Times New Roman" panose="02020603050405020304" pitchFamily="18" charset="0"/>
                <a:ea typeface="Times New Roman" panose="02020603050405020304" pitchFamily="18" charset="0"/>
              </a:rPr>
              <a:t> </a:t>
            </a:r>
          </a:p>
        </p:txBody>
      </p:sp>
      <p:sp>
        <p:nvSpPr>
          <p:cNvPr id="3" name="TextBox 2">
            <a:extLst>
              <a:ext uri="{FF2B5EF4-FFF2-40B4-BE49-F238E27FC236}">
                <a16:creationId xmlns:a16="http://schemas.microsoft.com/office/drawing/2014/main" id="{0830AE84-399E-328A-FF73-11A642D131B1}"/>
              </a:ext>
            </a:extLst>
          </p:cNvPr>
          <p:cNvSpPr txBox="1"/>
          <p:nvPr/>
        </p:nvSpPr>
        <p:spPr>
          <a:xfrm>
            <a:off x="761301" y="960124"/>
            <a:ext cx="5777595" cy="1795428"/>
          </a:xfrm>
          <a:prstGeom prst="rect">
            <a:avLst/>
          </a:prstGeom>
          <a:noFill/>
        </p:spPr>
        <p:txBody>
          <a:bodyPr wrap="square">
            <a:spAutoFit/>
          </a:bodyPr>
          <a:lstStyle/>
          <a:p>
            <a:pPr marR="218440" lvl="0" algn="just" fontAlgn="base">
              <a:lnSpc>
                <a:spcPct val="103000"/>
              </a:lnSpc>
              <a:spcAft>
                <a:spcPts val="25"/>
              </a:spcAft>
              <a:buClr>
                <a:srgbClr val="000000"/>
              </a:buClr>
              <a:buSzPts val="1400"/>
            </a:pPr>
            <a:r>
              <a:rPr lang="en-IN" sz="1800" u="none" strike="noStrike" kern="100" dirty="0">
                <a:solidFill>
                  <a:srgbClr val="000000"/>
                </a:solidFill>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[7] P. D. Oram and J. </a:t>
            </a:r>
            <a:r>
              <a:rPr lang="en-IN" sz="1800" u="none" strike="noStrike" kern="100" dirty="0" err="1">
                <a:solidFill>
                  <a:srgbClr val="000000"/>
                </a:solidFill>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Strine</a:t>
            </a:r>
            <a:r>
              <a:rPr lang="en-IN" sz="1800" u="none" strike="noStrike" kern="100" dirty="0">
                <a:solidFill>
                  <a:srgbClr val="000000"/>
                </a:solidFill>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 “</a:t>
            </a:r>
            <a:r>
              <a:rPr lang="en-IN" sz="1800" u="none" strike="noStrike" kern="100" dirty="0" err="1">
                <a:solidFill>
                  <a:srgbClr val="000000"/>
                </a:solidFill>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Color</a:t>
            </a:r>
            <a:r>
              <a:rPr lang="en-IN" sz="1800" u="none" strike="noStrike" kern="100" dirty="0">
                <a:solidFill>
                  <a:srgbClr val="000000"/>
                </a:solidFill>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 measurement of a solid active pharmaceutical ingredient as an aid to identifying key process parameters”, J. Pharm Biomed Anal, vol 40, pp 1021-1024, 2006.Author, Title of the Book, Publisher, (200X), </a:t>
            </a:r>
            <a:r>
              <a:rPr lang="en-IN" sz="1800" u="none" strike="noStrike" kern="100" dirty="0" err="1">
                <a:solidFill>
                  <a:srgbClr val="000000"/>
                </a:solidFill>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pp:XXX-YYY</a:t>
            </a:r>
            <a:r>
              <a:rPr lang="en-IN" sz="1800" u="none" strike="noStrike" kern="100" dirty="0">
                <a:solidFill>
                  <a:srgbClr val="000000"/>
                </a:solidFill>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 </a:t>
            </a:r>
          </a:p>
          <a:p>
            <a:pPr marL="8890" marR="430530" indent="-6350" algn="l">
              <a:lnSpc>
                <a:spcPct val="107000"/>
              </a:lnSpc>
              <a:spcAft>
                <a:spcPts val="45"/>
              </a:spcAft>
            </a:pPr>
            <a:r>
              <a:rPr lang="en-IN" sz="1800" kern="100" dirty="0">
                <a:solidFill>
                  <a:srgbClr val="000000"/>
                </a:solidFill>
                <a:effectLst/>
                <a:latin typeface="Times New Roman" panose="02020603050405020304" pitchFamily="18" charset="0"/>
                <a:ea typeface="Times New Roman" panose="02020603050405020304" pitchFamily="18" charset="0"/>
              </a:rPr>
              <a:t> </a:t>
            </a:r>
          </a:p>
        </p:txBody>
      </p:sp>
      <p:sp>
        <p:nvSpPr>
          <p:cNvPr id="5" name="TextBox 4">
            <a:extLst>
              <a:ext uri="{FF2B5EF4-FFF2-40B4-BE49-F238E27FC236}">
                <a16:creationId xmlns:a16="http://schemas.microsoft.com/office/drawing/2014/main" id="{5AF6F735-8938-572E-8D75-29B55E02B3DE}"/>
              </a:ext>
            </a:extLst>
          </p:cNvPr>
          <p:cNvSpPr txBox="1"/>
          <p:nvPr/>
        </p:nvSpPr>
        <p:spPr>
          <a:xfrm>
            <a:off x="761301" y="2497848"/>
            <a:ext cx="6102990" cy="931152"/>
          </a:xfrm>
          <a:prstGeom prst="rect">
            <a:avLst/>
          </a:prstGeom>
          <a:noFill/>
        </p:spPr>
        <p:txBody>
          <a:bodyPr wrap="square">
            <a:spAutoFit/>
          </a:bodyPr>
          <a:lstStyle/>
          <a:p>
            <a:pPr marR="218440" lvl="0" algn="just" fontAlgn="base">
              <a:lnSpc>
                <a:spcPct val="103000"/>
              </a:lnSpc>
              <a:spcAft>
                <a:spcPts val="155"/>
              </a:spcAft>
              <a:buClr>
                <a:srgbClr val="000000"/>
              </a:buClr>
              <a:buSzPts val="1400"/>
            </a:pPr>
            <a:r>
              <a:rPr lang="en-IN" sz="1800" u="none" strike="noStrike" kern="100" dirty="0">
                <a:solidFill>
                  <a:srgbClr val="000000"/>
                </a:solidFill>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[8] M. Frank, Nobert Kaiser, Wolfgang Buss, Ramona Eberhardt, “High- speed industrial </a:t>
            </a:r>
            <a:r>
              <a:rPr lang="en-IN" sz="1800" u="none" strike="noStrike" kern="100" dirty="0" err="1">
                <a:solidFill>
                  <a:srgbClr val="000000"/>
                </a:solidFill>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color</a:t>
            </a:r>
            <a:r>
              <a:rPr lang="en-IN" sz="1800" u="none" strike="noStrike" kern="100" dirty="0">
                <a:solidFill>
                  <a:srgbClr val="000000"/>
                </a:solidFill>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 and position sensors”, Electronic Imaging’99, pp 50-57, 1999. </a:t>
            </a:r>
          </a:p>
        </p:txBody>
      </p:sp>
      <p:sp>
        <p:nvSpPr>
          <p:cNvPr id="7" name="TextBox 6">
            <a:extLst>
              <a:ext uri="{FF2B5EF4-FFF2-40B4-BE49-F238E27FC236}">
                <a16:creationId xmlns:a16="http://schemas.microsoft.com/office/drawing/2014/main" id="{485F85B9-34E8-1EFC-7446-383F73CBE4A0}"/>
              </a:ext>
            </a:extLst>
          </p:cNvPr>
          <p:cNvSpPr txBox="1"/>
          <p:nvPr/>
        </p:nvSpPr>
        <p:spPr>
          <a:xfrm>
            <a:off x="761301" y="3428803"/>
            <a:ext cx="6102990" cy="1200329"/>
          </a:xfrm>
          <a:prstGeom prst="rect">
            <a:avLst/>
          </a:prstGeom>
          <a:noFill/>
        </p:spPr>
        <p:txBody>
          <a:bodyPr wrap="square">
            <a:spAutoFit/>
          </a:bodyPr>
          <a:lstStyle/>
          <a:p>
            <a:r>
              <a:rPr lang="en-IN" sz="1800" dirty="0">
                <a:solidFill>
                  <a:srgbClr val="000000"/>
                </a:solidFill>
                <a:effectLst/>
                <a:latin typeface="Times New Roman" panose="02020603050405020304" pitchFamily="18" charset="0"/>
                <a:ea typeface="Times New Roman" panose="02020603050405020304" pitchFamily="18" charset="0"/>
              </a:rPr>
              <a:t>[9] A. </a:t>
            </a:r>
            <a:r>
              <a:rPr lang="en-IN" sz="1800" dirty="0" err="1">
                <a:solidFill>
                  <a:srgbClr val="000000"/>
                </a:solidFill>
                <a:effectLst/>
                <a:latin typeface="Times New Roman" panose="02020603050405020304" pitchFamily="18" charset="0"/>
                <a:ea typeface="Times New Roman" panose="02020603050405020304" pitchFamily="18" charset="0"/>
              </a:rPr>
              <a:t>Pacquit</a:t>
            </a:r>
            <a:r>
              <a:rPr lang="en-IN" sz="1800" dirty="0">
                <a:solidFill>
                  <a:srgbClr val="000000"/>
                </a:solidFill>
                <a:effectLst/>
                <a:latin typeface="Times New Roman" panose="02020603050405020304" pitchFamily="18" charset="0"/>
                <a:ea typeface="Times New Roman" panose="02020603050405020304" pitchFamily="18" charset="0"/>
              </a:rPr>
              <a:t>, J. Frisby, Danny Diamond, King Tong Lau, Alan Farrell, Brid Quilty, Dermot Diamond, “Development of a smart packaging for the monitoring of fish spoilage”, Food Chem, vol 102, pp 466-470, 2007. </a:t>
            </a:r>
            <a:endParaRPr lang="en-IN" dirty="0"/>
          </a:p>
        </p:txBody>
      </p:sp>
      <p:sp>
        <p:nvSpPr>
          <p:cNvPr id="9" name="TextBox 8">
            <a:extLst>
              <a:ext uri="{FF2B5EF4-FFF2-40B4-BE49-F238E27FC236}">
                <a16:creationId xmlns:a16="http://schemas.microsoft.com/office/drawing/2014/main" id="{BCC0628A-E590-27A9-AA51-DB76A92F8E9E}"/>
              </a:ext>
            </a:extLst>
          </p:cNvPr>
          <p:cNvSpPr txBox="1"/>
          <p:nvPr/>
        </p:nvSpPr>
        <p:spPr>
          <a:xfrm>
            <a:off x="-75501" y="4661097"/>
            <a:ext cx="6102990" cy="1510093"/>
          </a:xfrm>
          <a:prstGeom prst="rect">
            <a:avLst/>
          </a:prstGeom>
          <a:noFill/>
        </p:spPr>
        <p:txBody>
          <a:bodyPr wrap="square">
            <a:spAutoFit/>
          </a:bodyPr>
          <a:lstStyle/>
          <a:p>
            <a:pPr marL="222885" marR="218440" indent="-6350" algn="just">
              <a:lnSpc>
                <a:spcPct val="103000"/>
              </a:lnSpc>
              <a:spcAft>
                <a:spcPts val="25"/>
              </a:spcAft>
              <a:buNone/>
            </a:pPr>
            <a:r>
              <a:rPr lang="en-IN" kern="100" dirty="0">
                <a:solidFill>
                  <a:srgbClr val="000000"/>
                </a:solidFill>
                <a:latin typeface="Times New Roman" panose="02020603050405020304" pitchFamily="18" charset="0"/>
                <a:ea typeface="Times New Roman" panose="02020603050405020304" pitchFamily="18" charset="0"/>
              </a:rPr>
              <a:t>           [10] </a:t>
            </a:r>
            <a:r>
              <a:rPr lang="en-IN" sz="1800" kern="100" dirty="0" err="1">
                <a:solidFill>
                  <a:srgbClr val="000000"/>
                </a:solidFill>
                <a:effectLst/>
                <a:latin typeface="Times New Roman" panose="02020603050405020304" pitchFamily="18" charset="0"/>
                <a:ea typeface="Times New Roman" panose="02020603050405020304" pitchFamily="18" charset="0"/>
              </a:rPr>
              <a:t>Bozma</a:t>
            </a:r>
            <a:r>
              <a:rPr lang="en-IN" sz="1800" kern="100" dirty="0">
                <a:solidFill>
                  <a:srgbClr val="000000"/>
                </a:solidFill>
                <a:effectLst/>
                <a:latin typeface="Times New Roman" panose="02020603050405020304" pitchFamily="18" charset="0"/>
                <a:ea typeface="Times New Roman" panose="02020603050405020304" pitchFamily="18" charset="0"/>
              </a:rPr>
              <a:t> and </a:t>
            </a:r>
            <a:r>
              <a:rPr lang="en-IN" sz="1800" kern="100" dirty="0" err="1">
                <a:solidFill>
                  <a:srgbClr val="000000"/>
                </a:solidFill>
                <a:effectLst/>
                <a:latin typeface="Times New Roman" panose="02020603050405020304" pitchFamily="18" charset="0"/>
                <a:ea typeface="Times New Roman" panose="02020603050405020304" pitchFamily="18" charset="0"/>
              </a:rPr>
              <a:t>Yal-cin</a:t>
            </a:r>
            <a:r>
              <a:rPr lang="en-IN" sz="1800" kern="100" dirty="0">
                <a:solidFill>
                  <a:srgbClr val="000000"/>
                </a:solidFill>
                <a:effectLst/>
                <a:latin typeface="Times New Roman" panose="02020603050405020304" pitchFamily="18" charset="0"/>
                <a:ea typeface="Times New Roman" panose="02020603050405020304" pitchFamily="18" charset="0"/>
              </a:rPr>
              <a:t>, “Visual processing and    </a:t>
            </a:r>
          </a:p>
          <a:p>
            <a:pPr marL="222885" marR="218440" indent="-6350" algn="just">
              <a:lnSpc>
                <a:spcPct val="103000"/>
              </a:lnSpc>
              <a:spcAft>
                <a:spcPts val="25"/>
              </a:spcAft>
              <a:buNone/>
            </a:pPr>
            <a:r>
              <a:rPr lang="en-IN" kern="100" dirty="0">
                <a:solidFill>
                  <a:srgbClr val="000000"/>
                </a:solidFill>
                <a:latin typeface="Times New Roman" panose="02020603050405020304" pitchFamily="18" charset="0"/>
                <a:ea typeface="Times New Roman" panose="02020603050405020304" pitchFamily="18" charset="0"/>
              </a:rPr>
              <a:t>            </a:t>
            </a:r>
            <a:r>
              <a:rPr lang="en-IN" sz="1800" kern="100" dirty="0">
                <a:solidFill>
                  <a:srgbClr val="000000"/>
                </a:solidFill>
                <a:effectLst/>
                <a:latin typeface="Times New Roman" panose="02020603050405020304" pitchFamily="18" charset="0"/>
                <a:ea typeface="Times New Roman" panose="02020603050405020304" pitchFamily="18" charset="0"/>
              </a:rPr>
              <a:t>classification of items</a:t>
            </a:r>
            <a:r>
              <a:rPr lang="en-IN" kern="100" dirty="0">
                <a:solidFill>
                  <a:srgbClr val="000000"/>
                </a:solidFill>
                <a:latin typeface="Times New Roman" panose="02020603050405020304" pitchFamily="18" charset="0"/>
                <a:ea typeface="Times New Roman" panose="02020603050405020304" pitchFamily="18" charset="0"/>
              </a:rPr>
              <a:t> </a:t>
            </a:r>
            <a:r>
              <a:rPr lang="en-IN" sz="1800" kern="100" dirty="0">
                <a:solidFill>
                  <a:srgbClr val="000000"/>
                </a:solidFill>
                <a:effectLst/>
                <a:latin typeface="Times New Roman" panose="02020603050405020304" pitchFamily="18" charset="0"/>
                <a:ea typeface="Times New Roman" panose="02020603050405020304" pitchFamily="18" charset="0"/>
              </a:rPr>
              <a:t>on a moving conveyor: a s   </a:t>
            </a:r>
          </a:p>
          <a:p>
            <a:pPr marL="222885" marR="218440" indent="-6350" algn="just">
              <a:lnSpc>
                <a:spcPct val="103000"/>
              </a:lnSpc>
              <a:spcAft>
                <a:spcPts val="25"/>
              </a:spcAft>
              <a:buNone/>
            </a:pPr>
            <a:r>
              <a:rPr lang="en-IN" kern="100" dirty="0">
                <a:solidFill>
                  <a:srgbClr val="000000"/>
                </a:solidFill>
                <a:latin typeface="Times New Roman" panose="02020603050405020304" pitchFamily="18" charset="0"/>
                <a:ea typeface="Times New Roman" panose="02020603050405020304" pitchFamily="18" charset="0"/>
              </a:rPr>
              <a:t>             </a:t>
            </a:r>
            <a:r>
              <a:rPr lang="en-IN" sz="1800" kern="100" dirty="0">
                <a:solidFill>
                  <a:srgbClr val="000000"/>
                </a:solidFill>
                <a:effectLst/>
                <a:latin typeface="Times New Roman" panose="02020603050405020304" pitchFamily="18" charset="0"/>
                <a:ea typeface="Times New Roman" panose="02020603050405020304" pitchFamily="18" charset="0"/>
              </a:rPr>
              <a:t>Selective perception approach”, vol. 18, issue 2,    </a:t>
            </a:r>
          </a:p>
          <a:p>
            <a:pPr marL="222885" marR="218440" indent="-6350" algn="just">
              <a:lnSpc>
                <a:spcPct val="103000"/>
              </a:lnSpc>
              <a:spcAft>
                <a:spcPts val="25"/>
              </a:spcAft>
              <a:buNone/>
            </a:pPr>
            <a:r>
              <a:rPr lang="en-IN" kern="100" dirty="0">
                <a:solidFill>
                  <a:srgbClr val="000000"/>
                </a:solidFill>
                <a:latin typeface="Times New Roman" panose="02020603050405020304" pitchFamily="18" charset="0"/>
                <a:ea typeface="Times New Roman" panose="02020603050405020304" pitchFamily="18" charset="0"/>
              </a:rPr>
              <a:t>             </a:t>
            </a:r>
            <a:r>
              <a:rPr lang="en-IN" sz="1800" kern="100" dirty="0">
                <a:solidFill>
                  <a:srgbClr val="000000"/>
                </a:solidFill>
                <a:effectLst/>
                <a:latin typeface="Times New Roman" panose="02020603050405020304" pitchFamily="18" charset="0"/>
                <a:ea typeface="Times New Roman" panose="02020603050405020304" pitchFamily="18" charset="0"/>
              </a:rPr>
              <a:t>2002. </a:t>
            </a:r>
          </a:p>
          <a:p>
            <a:pPr marL="222885" marR="430530" indent="-6350" algn="l">
              <a:lnSpc>
                <a:spcPct val="107000"/>
              </a:lnSpc>
              <a:spcAft>
                <a:spcPts val="25"/>
              </a:spcAft>
            </a:pPr>
            <a:r>
              <a:rPr lang="en-IN" sz="1800" kern="100" dirty="0">
                <a:solidFill>
                  <a:srgbClr val="000000"/>
                </a:solidFill>
                <a:effectLst/>
                <a:latin typeface="Times New Roman" panose="02020603050405020304" pitchFamily="18" charset="0"/>
                <a:ea typeface="Times New Roman" panose="02020603050405020304" pitchFamily="18" charset="0"/>
              </a:rPr>
              <a:t> </a:t>
            </a:r>
          </a:p>
        </p:txBody>
      </p:sp>
    </p:spTree>
    <p:extLst>
      <p:ext uri="{BB962C8B-B14F-4D97-AF65-F5344CB8AC3E}">
        <p14:creationId xmlns:p14="http://schemas.microsoft.com/office/powerpoint/2010/main" val="2377370071"/>
      </p:ext>
    </p:extLst>
  </p:cSld>
  <p:clrMapOvr>
    <a:masterClrMapping/>
  </p:clrMapOvr>
</p:sld>
</file>

<file path=ppt/theme/theme1.xml><?xml version="1.0" encoding="utf-8"?>
<a:theme xmlns:a="http://schemas.openxmlformats.org/drawingml/2006/main" name="Gallery">
  <a:themeElements>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fontScheme name="Gallery">
      <a:majorFont>
        <a:latin typeface="Gill Sans MT" panose="020B0502020104020203"/>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panose="020B0502020104020203"/>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allery">
      <a:fillStyleLst>
        <a:solidFill>
          <a:schemeClr val="phClr"/>
        </a:solidFill>
        <a:gradFill rotWithShape="1">
          <a:gsLst>
            <a:gs pos="0">
              <a:schemeClr val="phClr">
                <a:tint val="54000"/>
                <a:alpha val="100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8000"/>
                <a:satMod val="130000"/>
                <a:lumMod val="92000"/>
              </a:schemeClr>
            </a:gs>
            <a:gs pos="100000">
              <a:schemeClr val="phClr">
                <a:shade val="78000"/>
                <a:satMod val="130000"/>
                <a:lumMod val="92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0800" dist="50800" dir="5400000" sx="96000" sy="96000" rotWithShape="0">
              <a:srgbClr val="000000">
                <a:alpha val="48000"/>
              </a:srgbClr>
            </a:outerShdw>
          </a:effectLst>
          <a:scene3d>
            <a:camera prst="orthographicFront">
              <a:rot lat="0" lon="0" rev="0"/>
            </a:camera>
            <a:lightRig rig="balanced" dir="t">
              <a:rot lat="0" lon="0" rev="1080000"/>
            </a:lightRig>
          </a:scene3d>
          <a:sp3d>
            <a:bevelT w="38100" h="12700" prst="softRound"/>
          </a:sp3d>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Gallery" id="{BBFCD31E-59A1-489D-B089-A3EAD7CAE12E}" vid="{F5E91637-A7B6-4E27-B710-77DA7014EE1E}"/>
    </a:ext>
  </a:extLst>
</a:theme>
</file>

<file path=docProps/app.xml><?xml version="1.0" encoding="utf-8"?>
<Properties xmlns="http://schemas.openxmlformats.org/officeDocument/2006/extended-properties" xmlns:vt="http://schemas.openxmlformats.org/officeDocument/2006/docPropsVTypes">
  <Template>TM10001114[[fn=Gallery]]</Template>
  <TotalTime>210</TotalTime>
  <Words>1327</Words>
  <Application>Microsoft Office PowerPoint</Application>
  <PresentationFormat>Widescreen</PresentationFormat>
  <Paragraphs>167</Paragraphs>
  <Slides>18</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18</vt:i4>
      </vt:variant>
    </vt:vector>
  </HeadingPairs>
  <TitlesOfParts>
    <vt:vector size="23" baseType="lpstr">
      <vt:lpstr>Arial</vt:lpstr>
      <vt:lpstr>Gill Sans MT</vt:lpstr>
      <vt:lpstr>Times New Roman</vt:lpstr>
      <vt:lpstr>Wingdings</vt:lpstr>
      <vt:lpstr>Gallery</vt:lpstr>
      <vt:lpstr>   COLOR BASED PRODUCT SORTING</vt:lpstr>
      <vt:lpstr>OBJECTIVES</vt:lpstr>
      <vt:lpstr>Abstract</vt:lpstr>
      <vt:lpstr>Literature survey  </vt:lpstr>
      <vt:lpstr>PowerPoint Presentation</vt:lpstr>
      <vt:lpstr>PowerPoint Presentation</vt:lpstr>
      <vt:lpstr>METHODOLOGY</vt:lpstr>
      <vt:lpstr>block DAIGRAM</vt:lpstr>
      <vt:lpstr>COMPONENTS</vt:lpstr>
      <vt:lpstr>PowerPoint Presentation</vt:lpstr>
      <vt:lpstr>CRICUIT DIAGRAM</vt:lpstr>
      <vt:lpstr>OUTPUT </vt:lpstr>
      <vt:lpstr>OUTPUT </vt:lpstr>
      <vt:lpstr>OUTPUT </vt:lpstr>
      <vt:lpstr>FUTURE SCOPE </vt:lpstr>
      <vt:lpstr>CONCLUSION </vt:lpstr>
      <vt:lpstr>REFERENCE </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sakthiraja030@outlook.com</dc:creator>
  <cp:lastModifiedBy>sakthiraja030@outlook.com</cp:lastModifiedBy>
  <cp:revision>1</cp:revision>
  <dcterms:created xsi:type="dcterms:W3CDTF">2025-03-31T12:42:03Z</dcterms:created>
  <dcterms:modified xsi:type="dcterms:W3CDTF">2025-05-26T06:05:13Z</dcterms:modified>
</cp:coreProperties>
</file>